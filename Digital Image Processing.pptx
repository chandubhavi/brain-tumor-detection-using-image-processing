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sldIdLst>
    <p:sldId id="257" r:id="rId2"/>
    <p:sldId id="258" r:id="rId3"/>
    <p:sldId id="271" r:id="rId4"/>
    <p:sldId id="259" r:id="rId5"/>
    <p:sldId id="260" r:id="rId6"/>
    <p:sldId id="261" r:id="rId7"/>
    <p:sldId id="268" r:id="rId8"/>
    <p:sldId id="273" r:id="rId9"/>
    <p:sldId id="272" r:id="rId10"/>
    <p:sldId id="274" r:id="rId11"/>
    <p:sldId id="275"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ED96E-9FD4-48D4-9758-CC8844704343}" v="41" dt="2025-03-17T17:38:26.186"/>
    <p1510:client id="{784FCCBD-64F9-4701-87D1-8C776866007E}" v="2" dt="2025-03-18T05:16:19.00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98" d="100"/>
          <a:sy n="98" d="100"/>
        </p:scale>
        <p:origin x="101"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nath Mirje" userId="7c5faf0b6ae67950" providerId="LiveId" clId="{784FCCBD-64F9-4701-87D1-8C776866007E}"/>
    <pc:docChg chg="modSld sldOrd">
      <pc:chgData name="Somnath Mirje" userId="7c5faf0b6ae67950" providerId="LiveId" clId="{784FCCBD-64F9-4701-87D1-8C776866007E}" dt="2025-03-18T05:17:10.216" v="90" actId="2711"/>
      <pc:docMkLst>
        <pc:docMk/>
      </pc:docMkLst>
      <pc:sldChg chg="modSp mod">
        <pc:chgData name="Somnath Mirje" userId="7c5faf0b6ae67950" providerId="LiveId" clId="{784FCCBD-64F9-4701-87D1-8C776866007E}" dt="2025-03-18T04:37:33.051" v="24" actId="20577"/>
        <pc:sldMkLst>
          <pc:docMk/>
          <pc:sldMk cId="0" sldId="257"/>
        </pc:sldMkLst>
        <pc:spChg chg="mod">
          <ac:chgData name="Somnath Mirje" userId="7c5faf0b6ae67950" providerId="LiveId" clId="{784FCCBD-64F9-4701-87D1-8C776866007E}" dt="2025-03-18T04:37:33.051" v="24" actId="20577"/>
          <ac:spMkLst>
            <pc:docMk/>
            <pc:sldMk cId="0" sldId="257"/>
            <ac:spMk id="13" creationId="{00000000-0000-0000-0000-000000000000}"/>
          </ac:spMkLst>
        </pc:spChg>
      </pc:sldChg>
      <pc:sldChg chg="modSp mod">
        <pc:chgData name="Somnath Mirje" userId="7c5faf0b6ae67950" providerId="LiveId" clId="{784FCCBD-64F9-4701-87D1-8C776866007E}" dt="2025-03-18T05:03:34.694" v="65" actId="2711"/>
        <pc:sldMkLst>
          <pc:docMk/>
          <pc:sldMk cId="0" sldId="259"/>
        </pc:sldMkLst>
        <pc:spChg chg="mod">
          <ac:chgData name="Somnath Mirje" userId="7c5faf0b6ae67950" providerId="LiveId" clId="{784FCCBD-64F9-4701-87D1-8C776866007E}" dt="2025-03-18T05:03:34.694" v="65" actId="2711"/>
          <ac:spMkLst>
            <pc:docMk/>
            <pc:sldMk cId="0" sldId="259"/>
            <ac:spMk id="3" creationId="{00000000-0000-0000-0000-000000000000}"/>
          </ac:spMkLst>
        </pc:spChg>
      </pc:sldChg>
      <pc:sldChg chg="modSp mod">
        <pc:chgData name="Somnath Mirje" userId="7c5faf0b6ae67950" providerId="LiveId" clId="{784FCCBD-64F9-4701-87D1-8C776866007E}" dt="2025-03-18T05:17:10.216" v="90" actId="2711"/>
        <pc:sldMkLst>
          <pc:docMk/>
          <pc:sldMk cId="0" sldId="268"/>
        </pc:sldMkLst>
        <pc:graphicFrameChg chg="mod modGraphic">
          <ac:chgData name="Somnath Mirje" userId="7c5faf0b6ae67950" providerId="LiveId" clId="{784FCCBD-64F9-4701-87D1-8C776866007E}" dt="2025-03-18T05:17:10.216" v="90" actId="2711"/>
          <ac:graphicFrameMkLst>
            <pc:docMk/>
            <pc:sldMk cId="0" sldId="268"/>
            <ac:graphicFrameMk id="6" creationId="{00000000-0000-0000-0000-000000000000}"/>
          </ac:graphicFrameMkLst>
        </pc:graphicFrameChg>
      </pc:sldChg>
      <pc:sldChg chg="modSp mod">
        <pc:chgData name="Somnath Mirje" userId="7c5faf0b6ae67950" providerId="LiveId" clId="{784FCCBD-64F9-4701-87D1-8C776866007E}" dt="2025-03-18T04:45:23.578" v="25" actId="20577"/>
        <pc:sldMkLst>
          <pc:docMk/>
          <pc:sldMk cId="2068030752" sldId="271"/>
        </pc:sldMkLst>
        <pc:spChg chg="mod">
          <ac:chgData name="Somnath Mirje" userId="7c5faf0b6ae67950" providerId="LiveId" clId="{784FCCBD-64F9-4701-87D1-8C776866007E}" dt="2025-03-18T04:45:23.578" v="25" actId="20577"/>
          <ac:spMkLst>
            <pc:docMk/>
            <pc:sldMk cId="2068030752" sldId="271"/>
            <ac:spMk id="3" creationId="{259E0F66-5B9B-90E7-4838-6894B6423AAA}"/>
          </ac:spMkLst>
        </pc:spChg>
      </pc:sldChg>
      <pc:sldChg chg="modSp mod">
        <pc:chgData name="Somnath Mirje" userId="7c5faf0b6ae67950" providerId="LiveId" clId="{784FCCBD-64F9-4701-87D1-8C776866007E}" dt="2025-03-18T05:15:09.110" v="75" actId="20577"/>
        <pc:sldMkLst>
          <pc:docMk/>
          <pc:sldMk cId="2269043907" sldId="272"/>
        </pc:sldMkLst>
        <pc:graphicFrameChg chg="modGraphic">
          <ac:chgData name="Somnath Mirje" userId="7c5faf0b6ae67950" providerId="LiveId" clId="{784FCCBD-64F9-4701-87D1-8C776866007E}" dt="2025-03-18T05:15:09.110" v="75" actId="20577"/>
          <ac:graphicFrameMkLst>
            <pc:docMk/>
            <pc:sldMk cId="2269043907" sldId="272"/>
            <ac:graphicFrameMk id="6" creationId="{97DBC069-E7D1-85CE-2A59-6159708F270A}"/>
          </ac:graphicFrameMkLst>
        </pc:graphicFrameChg>
      </pc:sldChg>
      <pc:sldChg chg="modSp mod ord">
        <pc:chgData name="Somnath Mirje" userId="7c5faf0b6ae67950" providerId="LiveId" clId="{784FCCBD-64F9-4701-87D1-8C776866007E}" dt="2025-03-18T05:15:12.133" v="77"/>
        <pc:sldMkLst>
          <pc:docMk/>
          <pc:sldMk cId="2536801872" sldId="273"/>
        </pc:sldMkLst>
        <pc:graphicFrameChg chg="mod modGraphic">
          <ac:chgData name="Somnath Mirje" userId="7c5faf0b6ae67950" providerId="LiveId" clId="{784FCCBD-64F9-4701-87D1-8C776866007E}" dt="2025-03-18T05:15:00.695" v="71" actId="20577"/>
          <ac:graphicFrameMkLst>
            <pc:docMk/>
            <pc:sldMk cId="2536801872" sldId="273"/>
            <ac:graphicFrameMk id="6" creationId="{A633901A-6043-F728-10A2-CEBB57EE5790}"/>
          </ac:graphicFrameMkLst>
        </pc:graphicFrameChg>
      </pc:sldChg>
      <pc:sldChg chg="modSp mod">
        <pc:chgData name="Somnath Mirje" userId="7c5faf0b6ae67950" providerId="LiveId" clId="{784FCCBD-64F9-4701-87D1-8C776866007E}" dt="2025-03-18T05:04:02.388" v="66" actId="2711"/>
        <pc:sldMkLst>
          <pc:docMk/>
          <pc:sldMk cId="1487797117" sldId="274"/>
        </pc:sldMkLst>
        <pc:spChg chg="mod">
          <ac:chgData name="Somnath Mirje" userId="7c5faf0b6ae67950" providerId="LiveId" clId="{784FCCBD-64F9-4701-87D1-8C776866007E}" dt="2025-03-18T05:04:02.388" v="66" actId="2711"/>
          <ac:spMkLst>
            <pc:docMk/>
            <pc:sldMk cId="1487797117" sldId="274"/>
            <ac:spMk id="3" creationId="{FCBDA8F6-EE86-82D6-DF8B-E7A4CA3A48BF}"/>
          </ac:spMkLst>
        </pc:spChg>
      </pc:sldChg>
      <pc:sldChg chg="modSp mod">
        <pc:chgData name="Somnath Mirje" userId="7c5faf0b6ae67950" providerId="LiveId" clId="{784FCCBD-64F9-4701-87D1-8C776866007E}" dt="2025-03-18T05:04:14.318" v="67" actId="2711"/>
        <pc:sldMkLst>
          <pc:docMk/>
          <pc:sldMk cId="1598312506" sldId="275"/>
        </pc:sldMkLst>
        <pc:spChg chg="mod">
          <ac:chgData name="Somnath Mirje" userId="7c5faf0b6ae67950" providerId="LiveId" clId="{784FCCBD-64F9-4701-87D1-8C776866007E}" dt="2025-03-18T05:04:14.318" v="67" actId="2711"/>
          <ac:spMkLst>
            <pc:docMk/>
            <pc:sldMk cId="1598312506" sldId="275"/>
            <ac:spMk id="3" creationId="{0B38F3D9-AA27-E9B1-CD21-343F90CED5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4AF87-6FA6-4540-AA7D-BBD5CE9A9CAF}" type="datetimeFigureOut">
              <a:rPr lang="en-US" smtClean="0"/>
              <a:t>3/18/2025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A3565-0DD8-4A86-B185-F179E641CDB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9216FE-C071-420D-BB28-09B55B314C64}" type="datetime1">
              <a:rPr lang="en-US" smtClean="0"/>
              <a:t>3/18/2025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D74E3D-0336-42C2-BFB4-C958ED9467B7}" type="datetime1">
              <a:rPr lang="en-US" smtClean="0"/>
              <a:t>3/18/2025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B7DDD7-C401-4CAA-BD24-A32FA53B7CB9}" type="datetime1">
              <a:rPr lang="en-US" smtClean="0"/>
              <a:t>3/18/2025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067950-397D-44F6-AED2-6259F9B75EE7}" type="datetime1">
              <a:rPr lang="en-US" smtClean="0"/>
              <a:t>3/18/2025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90FE81-818B-4A50-AB84-C3A1E88F69EA}" type="datetime1">
              <a:rPr lang="en-US" smtClean="0"/>
              <a:t>3/18/2025</a:t>
            </a:fld>
            <a:endParaRPr lang="en-US"/>
          </a:p>
        </p:txBody>
      </p:sp>
      <p:sp>
        <p:nvSpPr>
          <p:cNvPr id="8" name="Footer Placeholder 7"/>
          <p:cNvSpPr>
            <a:spLocks noGrp="1"/>
          </p:cNvSpPr>
          <p:nvPr>
            <p:ph type="ftr" sz="quarter" idx="11"/>
          </p:nvPr>
        </p:nvSpPr>
        <p:spPr/>
        <p:txBody>
          <a:bodyPr/>
          <a:lstStyle/>
          <a:p>
            <a:r>
              <a:rPr lang="en-US"/>
              <a:t>Dept. of ECE</a:t>
            </a:r>
          </a:p>
        </p:txBody>
      </p:sp>
      <p:sp>
        <p:nvSpPr>
          <p:cNvPr id="9" name="Slide Number Placeholder 8"/>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793FCE-3AE4-45AA-9A7F-3C5880C8D1E5}" type="datetime1">
              <a:rPr lang="en-US" smtClean="0"/>
              <a:t>3/18/2025</a:t>
            </a:fld>
            <a:endParaRPr lang="en-US"/>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1B2A74-BC41-4B03-8E3A-2BAC0ECC5435}" type="datetime1">
              <a:rPr lang="en-US" smtClean="0"/>
              <a:t>3/18/2025</a:t>
            </a:fld>
            <a:endParaRPr lang="en-US"/>
          </a:p>
        </p:txBody>
      </p:sp>
      <p:sp>
        <p:nvSpPr>
          <p:cNvPr id="3" name="Footer Placeholder 2"/>
          <p:cNvSpPr>
            <a:spLocks noGrp="1"/>
          </p:cNvSpPr>
          <p:nvPr>
            <p:ph type="ftr" sz="quarter" idx="11"/>
          </p:nvPr>
        </p:nvSpPr>
        <p:spPr/>
        <p:txBody>
          <a:bodyPr/>
          <a:lstStyle/>
          <a:p>
            <a:r>
              <a:rPr lang="en-US"/>
              <a:t>Dept. of ECE</a:t>
            </a:r>
          </a:p>
        </p:txBody>
      </p:sp>
      <p:sp>
        <p:nvSpPr>
          <p:cNvPr id="4" name="Slide Number Placeholder 3"/>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52B548-D479-4C39-A073-9EB4C37028D3}" type="datetime1">
              <a:rPr lang="en-US" smtClean="0"/>
              <a:t>3/18/2025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E1A08B-EED0-406E-95F7-0BB3DE4076B9}" type="datetime1">
              <a:rPr lang="en-US" smtClean="0"/>
              <a:t>3/18/2025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9AC321-3D1B-45E4-8F08-E0FF40B89087}" type="datetime1">
              <a:rPr lang="en-US" smtClean="0"/>
              <a:t>3/18/2025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9FC4D6-A376-409D-B28A-ECAC37146799}" type="datetime1">
              <a:rPr lang="en-US" smtClean="0"/>
              <a:t>3/18/2025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F22D2-A5D9-4A6F-A3FB-73055AB638C4}" type="datetime1">
              <a:rPr lang="en-US" smtClean="0"/>
              <a:t>3/18/2025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664CE2-A199-492D-95BF-8BD1FF4576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stretch>
            <a:fillRect/>
          </a:stretch>
        </p:blipFill>
        <p:spPr>
          <a:xfrm>
            <a:off x="399011" y="2129154"/>
            <a:ext cx="11321934" cy="4047807"/>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4"/>
          <a:stretch>
            <a:fillRect/>
          </a:stretch>
        </p:blipFill>
        <p:spPr>
          <a:xfrm>
            <a:off x="765175" y="160337"/>
            <a:ext cx="9753600" cy="1066800"/>
          </a:xfrm>
          <a:prstGeom prst="rect">
            <a:avLst/>
          </a:prstGeom>
        </p:spPr>
      </p:pic>
      <p:sp>
        <p:nvSpPr>
          <p:cNvPr id="12" name="TextBox 11"/>
          <p:cNvSpPr txBox="1"/>
          <p:nvPr/>
        </p:nvSpPr>
        <p:spPr>
          <a:xfrm>
            <a:off x="1844675" y="2129155"/>
            <a:ext cx="7594600" cy="1410335"/>
          </a:xfrm>
          <a:prstGeom prst="rect">
            <a:avLst/>
          </a:prstGeom>
          <a:noFill/>
        </p:spPr>
        <p:txBody>
          <a:bodyPr wrap="square" rtlCol="0">
            <a:noAutofit/>
          </a:bodyPr>
          <a:lstStyle/>
          <a:p>
            <a:pPr algn="ctr"/>
            <a:r>
              <a:rPr lang="en-US" sz="3600" dirty="0"/>
              <a:t>BRAIN TUMOR DETECTION USING IMAGE PROCESSING</a:t>
            </a:r>
          </a:p>
        </p:txBody>
      </p:sp>
      <p:sp>
        <p:nvSpPr>
          <p:cNvPr id="13" name="TextBox 12"/>
          <p:cNvSpPr txBox="1"/>
          <p:nvPr/>
        </p:nvSpPr>
        <p:spPr>
          <a:xfrm>
            <a:off x="1612900" y="3433762"/>
            <a:ext cx="7429500" cy="1408430"/>
          </a:xfrm>
          <a:prstGeom prst="rect">
            <a:avLst/>
          </a:prstGeom>
          <a:noFill/>
        </p:spPr>
        <p:txBody>
          <a:bodyPr wrap="square" rtlCol="0">
            <a:noAutofit/>
          </a:bodyPr>
          <a:lstStyle/>
          <a:p>
            <a:pPr algn="ctr"/>
            <a:r>
              <a:rPr lang="en-US" dirty="0" err="1"/>
              <a:t>Chandrashekher</a:t>
            </a:r>
            <a:r>
              <a:rPr lang="en-US" dirty="0"/>
              <a:t> B       |USN:02fe22bec020</a:t>
            </a:r>
          </a:p>
          <a:p>
            <a:pPr algn="ctr"/>
            <a:r>
              <a:rPr lang="en-US" dirty="0" err="1"/>
              <a:t>Vasantkumar</a:t>
            </a:r>
            <a:r>
              <a:rPr lang="en-US" dirty="0"/>
              <a:t>                |USN:</a:t>
            </a:r>
            <a:r>
              <a:rPr lang="en-US" dirty="0">
                <a:sym typeface="+mn-ea"/>
              </a:rPr>
              <a:t>02fe22bec079</a:t>
            </a:r>
            <a:endParaRPr lang="en-US" dirty="0"/>
          </a:p>
          <a:p>
            <a:pPr algn="ctr"/>
            <a:r>
              <a:rPr lang="en-US" dirty="0"/>
              <a:t>Omkar </a:t>
            </a:r>
            <a:r>
              <a:rPr lang="en-US" dirty="0" err="1"/>
              <a:t>shinde</a:t>
            </a:r>
            <a:r>
              <a:rPr lang="en-US" dirty="0"/>
              <a:t>               |USN:</a:t>
            </a:r>
            <a:r>
              <a:rPr lang="en-US" dirty="0">
                <a:sym typeface="+mn-ea"/>
              </a:rPr>
              <a:t>02fe23bec414</a:t>
            </a:r>
            <a:endParaRPr lang="en-US" dirty="0"/>
          </a:p>
          <a:p>
            <a:pPr algn="ctr"/>
            <a:r>
              <a:rPr lang="en-US" dirty="0"/>
              <a:t>Rahul k                          |USN:</a:t>
            </a:r>
            <a:r>
              <a:rPr lang="en-US" dirty="0">
                <a:sym typeface="+mn-ea"/>
              </a:rPr>
              <a:t>02fe23bec060</a:t>
            </a:r>
            <a:endParaRPr lang="en-US" dirty="0"/>
          </a:p>
        </p:txBody>
      </p:sp>
      <p:sp>
        <p:nvSpPr>
          <p:cNvPr id="14" name="TextBox 13"/>
          <p:cNvSpPr txBox="1"/>
          <p:nvPr/>
        </p:nvSpPr>
        <p:spPr>
          <a:xfrm>
            <a:off x="4673600" y="4991100"/>
            <a:ext cx="2324675" cy="923330"/>
          </a:xfrm>
          <a:prstGeom prst="rect">
            <a:avLst/>
          </a:prstGeom>
          <a:noFill/>
        </p:spPr>
        <p:txBody>
          <a:bodyPr wrap="none" rtlCol="0">
            <a:spAutoFit/>
          </a:bodyPr>
          <a:lstStyle/>
          <a:p>
            <a:r>
              <a:rPr lang="en-US" dirty="0"/>
              <a:t>Under the Guidance of</a:t>
            </a:r>
          </a:p>
          <a:p>
            <a:r>
              <a:rPr lang="en-US"/>
              <a:t> Prof</a:t>
            </a:r>
            <a:r>
              <a:rPr lang="en-US" dirty="0"/>
              <a:t>: Pooja Mahajan</a:t>
            </a:r>
          </a:p>
          <a:p>
            <a:endParaRPr lang="en-US" dirty="0"/>
          </a:p>
        </p:txBody>
      </p:sp>
      <p:sp>
        <p:nvSpPr>
          <p:cNvPr id="15" name="Footer Placeholder 14"/>
          <p:cNvSpPr>
            <a:spLocks noGrp="1"/>
          </p:cNvSpPr>
          <p:nvPr>
            <p:ph type="ftr" sz="quarter" idx="11"/>
          </p:nvPr>
        </p:nvSpPr>
        <p:spPr/>
        <p:txBody>
          <a:bodyPr/>
          <a:lstStyle/>
          <a:p>
            <a:r>
              <a:rPr lang="en-US"/>
              <a:t>Dept. of ECE</a:t>
            </a:r>
          </a:p>
        </p:txBody>
      </p:sp>
      <p:sp>
        <p:nvSpPr>
          <p:cNvPr id="16" name="Slide Number Placeholder 15"/>
          <p:cNvSpPr>
            <a:spLocks noGrp="1"/>
          </p:cNvSpPr>
          <p:nvPr>
            <p:ph type="sldNum" sz="quarter" idx="12"/>
          </p:nvPr>
        </p:nvSpPr>
        <p:spPr/>
        <p:txBody>
          <a:bodyPr/>
          <a:lstStyle/>
          <a:p>
            <a:fld id="{14664CE2-A199-492D-95BF-8BD1FF457610}" type="slidenum">
              <a:rPr lang="en-US" smtClean="0"/>
              <a:t>1</a:t>
            </a:fld>
            <a:endParaRPr lang="en-US"/>
          </a:p>
        </p:txBody>
      </p:sp>
      <p:sp>
        <p:nvSpPr>
          <p:cNvPr id="17" name="TextBox 16"/>
          <p:cNvSpPr txBox="1"/>
          <p:nvPr/>
        </p:nvSpPr>
        <p:spPr>
          <a:xfrm>
            <a:off x="2264085" y="1417448"/>
            <a:ext cx="7663829" cy="461665"/>
          </a:xfrm>
          <a:prstGeom prst="rect">
            <a:avLst/>
          </a:prstGeom>
          <a:noFill/>
        </p:spPr>
        <p:txBody>
          <a:bodyPr wrap="none" rtlCol="0">
            <a:spAutoFit/>
          </a:bodyPr>
          <a:lstStyle/>
          <a:p>
            <a:r>
              <a:rPr lang="en-US" sz="2400" dirty="0"/>
              <a:t>Department of Electronics and Communication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endParaRPr lang="en-US" dirty="0"/>
          </a:p>
        </p:txBody>
      </p:sp>
      <p:sp>
        <p:nvSpPr>
          <p:cNvPr id="3" name="Content Placeholder 2"/>
          <p:cNvSpPr>
            <a:spLocks noGrp="1"/>
          </p:cNvSpPr>
          <p:nvPr>
            <p:ph idx="1"/>
          </p:nvPr>
        </p:nvSpPr>
        <p:spPr>
          <a:xfrm>
            <a:off x="588818" y="2005012"/>
            <a:ext cx="10515600" cy="4351338"/>
          </a:xfrm>
        </p:spPr>
        <p:txBody>
          <a:bodyPr>
            <a:normAutofit/>
          </a:bodyPr>
          <a:lstStyle/>
          <a:p>
            <a:pPr marL="0" indent="0">
              <a:buNone/>
            </a:pPr>
            <a:r>
              <a:rPr lang="en-US" dirty="0"/>
              <a:t>  </a:t>
            </a:r>
            <a:r>
              <a:rPr lang="en-US" sz="4000" u="sng" dirty="0">
                <a:latin typeface="Times New Roman" panose="02020603050405020304" pitchFamily="18" charset="0"/>
                <a:cs typeface="Times New Roman" panose="02020603050405020304" pitchFamily="18" charset="0"/>
              </a:rPr>
              <a:t>Index</a:t>
            </a:r>
          </a:p>
          <a:p>
            <a:r>
              <a:rPr lang="en-US" dirty="0">
                <a:latin typeface="Times New Roman" panose="02020603050405020304" pitchFamily="18" charset="0"/>
                <a:cs typeface="Times New Roman" panose="02020603050405020304" pitchFamily="18" charset="0"/>
              </a:rPr>
              <a:t>1. Need Statement</a:t>
            </a:r>
          </a:p>
          <a:p>
            <a:r>
              <a:rPr lang="en-US" dirty="0">
                <a:latin typeface="Times New Roman" panose="02020603050405020304" pitchFamily="18" charset="0"/>
                <a:cs typeface="Times New Roman" panose="02020603050405020304" pitchFamily="18" charset="0"/>
              </a:rPr>
              <a:t>2. Problem Statement</a:t>
            </a:r>
          </a:p>
          <a:p>
            <a:r>
              <a:rPr lang="en-US" dirty="0">
                <a:latin typeface="Times New Roman" panose="02020603050405020304" pitchFamily="18" charset="0"/>
                <a:cs typeface="Times New Roman" panose="02020603050405020304" pitchFamily="18" charset="0"/>
              </a:rPr>
              <a:t>3. Introduction</a:t>
            </a:r>
          </a:p>
          <a:p>
            <a:r>
              <a:rPr lang="en-US" dirty="0">
                <a:latin typeface="Times New Roman" panose="02020603050405020304" pitchFamily="18" charset="0"/>
                <a:cs typeface="Times New Roman" panose="02020603050405020304" pitchFamily="18" charset="0"/>
              </a:rPr>
              <a:t>4. Literature survey</a:t>
            </a:r>
          </a:p>
          <a:p>
            <a:r>
              <a:rPr lang="en-US" dirty="0">
                <a:latin typeface="Times New Roman" panose="02020603050405020304" pitchFamily="18" charset="0"/>
                <a:cs typeface="Times New Roman" panose="02020603050405020304" pitchFamily="18" charset="0"/>
              </a:rPr>
              <a:t>5. Multiple solution identified </a:t>
            </a:r>
          </a:p>
          <a:p>
            <a:r>
              <a:rPr lang="en-US" dirty="0">
                <a:latin typeface="Times New Roman" panose="02020603050405020304" pitchFamily="18" charset="0"/>
                <a:cs typeface="Times New Roman" panose="02020603050405020304" pitchFamily="18" charset="0"/>
              </a:rPr>
              <a:t>6. Selected solution</a:t>
            </a:r>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2</a:t>
            </a:fld>
            <a:endParaRPr lang="en-US"/>
          </a:p>
        </p:txBody>
      </p:sp>
      <p:pic>
        <p:nvPicPr>
          <p:cNvPr id="6" name="Picture 5"/>
          <p:cNvPicPr>
            <a:picLocks noChangeAspect="1"/>
          </p:cNvPicPr>
          <p:nvPr/>
        </p:nvPicPr>
        <p:blipFill>
          <a:blip r:embed="rId2"/>
          <a:stretch>
            <a:fillRect/>
          </a:stretch>
        </p:blipFill>
        <p:spPr>
          <a:xfrm>
            <a:off x="765175" y="160337"/>
            <a:ext cx="9753600" cy="1066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D05D4-278E-458D-30A2-A304A027C882}"/>
              </a:ext>
            </a:extLst>
          </p:cNvPr>
          <p:cNvSpPr>
            <a:spLocks noGrp="1"/>
          </p:cNvSpPr>
          <p:nvPr>
            <p:ph type="title"/>
          </p:nvPr>
        </p:nvSpPr>
        <p:spPr>
          <a:xfrm>
            <a:off x="547254" y="1388226"/>
            <a:ext cx="10515600" cy="676535"/>
          </a:xfrm>
        </p:spPr>
        <p:txBody>
          <a:bodyPr>
            <a:normAutofit/>
          </a:bodyPr>
          <a:lstStyle/>
          <a:p>
            <a:pPr algn="ctr"/>
            <a:r>
              <a:rPr lang="en-US" sz="4000" u="sng" dirty="0"/>
              <a:t>Need Statement</a:t>
            </a:r>
            <a:endParaRPr lang="en-IN" sz="4000" u="sng" dirty="0"/>
          </a:p>
        </p:txBody>
      </p:sp>
      <p:sp>
        <p:nvSpPr>
          <p:cNvPr id="3" name="Content Placeholder 2">
            <a:extLst>
              <a:ext uri="{FF2B5EF4-FFF2-40B4-BE49-F238E27FC236}">
                <a16:creationId xmlns:a16="http://schemas.microsoft.com/office/drawing/2014/main" id="{259E0F66-5B9B-90E7-4838-6894B6423AAA}"/>
              </a:ext>
            </a:extLst>
          </p:cNvPr>
          <p:cNvSpPr>
            <a:spLocks noGrp="1"/>
          </p:cNvSpPr>
          <p:nvPr>
            <p:ph idx="1"/>
          </p:nvPr>
        </p:nvSpPr>
        <p:spPr>
          <a:xfrm>
            <a:off x="838200" y="2419003"/>
            <a:ext cx="10515600" cy="3757959"/>
          </a:xfrm>
        </p:spPr>
        <p:txBody>
          <a:bodyPr/>
          <a:lstStyle/>
          <a:p>
            <a:r>
              <a:rPr lang="en-US" b="0" i="0" dirty="0">
                <a:solidFill>
                  <a:srgbClr val="404040"/>
                </a:solidFill>
                <a:effectLst/>
                <a:latin typeface="Times New Roman" panose="02020603050405020304" pitchFamily="18" charset="0"/>
                <a:cs typeface="Times New Roman" panose="02020603050405020304" pitchFamily="18" charset="0"/>
              </a:rPr>
              <a:t>Early and accurate detection of brain tumors is critical to improve treatment outcomes and patient survival rates. </a:t>
            </a:r>
          </a:p>
          <a:p>
            <a:r>
              <a:rPr lang="en-US" b="0" i="0" dirty="0">
                <a:solidFill>
                  <a:srgbClr val="404040"/>
                </a:solidFill>
                <a:effectLst/>
                <a:latin typeface="Times New Roman" panose="02020603050405020304" pitchFamily="18" charset="0"/>
                <a:cs typeface="Times New Roman" panose="02020603050405020304" pitchFamily="18" charset="0"/>
              </a:rPr>
              <a:t>Automated image processing techniques are essential to enhance diagnostic precision, reduce human error.</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4D01910-DDED-90D3-FE56-1AF47DC96E35}"/>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9DBAF52C-A4FB-CEB7-4198-94FB17AA1A6F}"/>
              </a:ext>
            </a:extLst>
          </p:cNvPr>
          <p:cNvSpPr>
            <a:spLocks noGrp="1"/>
          </p:cNvSpPr>
          <p:nvPr>
            <p:ph type="sldNum" sz="quarter" idx="12"/>
          </p:nvPr>
        </p:nvSpPr>
        <p:spPr/>
        <p:txBody>
          <a:bodyPr/>
          <a:lstStyle/>
          <a:p>
            <a:fld id="{14664CE2-A199-492D-95BF-8BD1FF457610}" type="slidenum">
              <a:rPr lang="en-US" smtClean="0"/>
              <a:t>3</a:t>
            </a:fld>
            <a:endParaRPr lang="en-US"/>
          </a:p>
        </p:txBody>
      </p:sp>
      <p:pic>
        <p:nvPicPr>
          <p:cNvPr id="6" name="Picture 5">
            <a:extLst>
              <a:ext uri="{FF2B5EF4-FFF2-40B4-BE49-F238E27FC236}">
                <a16:creationId xmlns:a16="http://schemas.microsoft.com/office/drawing/2014/main" id="{720E17B7-E27D-79F1-8BBA-E2D0088F67B9}"/>
              </a:ext>
            </a:extLst>
          </p:cNvPr>
          <p:cNvPicPr>
            <a:picLocks noChangeAspect="1"/>
          </p:cNvPicPr>
          <p:nvPr/>
        </p:nvPicPr>
        <p:blipFill>
          <a:blip r:embed="rId2"/>
          <a:stretch>
            <a:fillRect/>
          </a:stretch>
        </p:blipFill>
        <p:spPr>
          <a:xfrm>
            <a:off x="765175" y="60585"/>
            <a:ext cx="9753600" cy="1066800"/>
          </a:xfrm>
          <a:prstGeom prst="rect">
            <a:avLst/>
          </a:prstGeom>
        </p:spPr>
      </p:pic>
    </p:spTree>
    <p:extLst>
      <p:ext uri="{BB962C8B-B14F-4D97-AF65-F5344CB8AC3E}">
        <p14:creationId xmlns:p14="http://schemas.microsoft.com/office/powerpoint/2010/main" val="206803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1480"/>
            <a:ext cx="10515600" cy="720090"/>
          </a:xfrm>
        </p:spPr>
        <p:txBody>
          <a:bodyPr>
            <a:normAutofit/>
          </a:bodyPr>
          <a:lstStyle/>
          <a:p>
            <a:pPr algn="ctr"/>
            <a:r>
              <a:rPr lang="en-US" sz="4000" u="sng" dirty="0"/>
              <a:t>Problem</a:t>
            </a:r>
            <a:r>
              <a:rPr lang="en-US" u="sng" dirty="0"/>
              <a:t> Statement</a:t>
            </a:r>
          </a:p>
        </p:txBody>
      </p:sp>
      <p:sp>
        <p:nvSpPr>
          <p:cNvPr id="3" name="Content Placeholder 2"/>
          <p:cNvSpPr>
            <a:spLocks noGrp="1"/>
          </p:cNvSpPr>
          <p:nvPr>
            <p:ph idx="1"/>
          </p:nvPr>
        </p:nvSpPr>
        <p:spPr>
          <a:xfrm>
            <a:off x="838200" y="2750820"/>
            <a:ext cx="10515600" cy="3426460"/>
          </a:xfrm>
        </p:spPr>
        <p:txBody>
          <a:bodyPr/>
          <a:lstStyle/>
          <a:p>
            <a:pPr algn="just"/>
            <a:r>
              <a:rPr lang="en-US" dirty="0">
                <a:latin typeface="Times New Roman" panose="02020603050405020304" pitchFamily="18" charset="0"/>
                <a:cs typeface="Times New Roman" panose="02020603050405020304" pitchFamily="18" charset="0"/>
              </a:rPr>
              <a:t>Brain tumor detection is crucial for early diagnosis and treatment, but manual MRI analysis is time-consuming. This project aims to develop an automated detection system using digital image processing techniques like segmentation and feature extraction. The solution enhances accuracy, speeds up diagnosis, and assists radiologists in identifying tumors more efficiently.</a:t>
            </a:r>
          </a:p>
          <a:p>
            <a:endParaRPr lang="en-US" dirty="0"/>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4</a:t>
            </a:fld>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4195"/>
            <a:ext cx="10515600" cy="749559"/>
          </a:xfrm>
        </p:spPr>
        <p:txBody>
          <a:bodyPr>
            <a:normAutofit/>
          </a:bodyPr>
          <a:lstStyle/>
          <a:p>
            <a:pPr algn="ctr"/>
            <a:r>
              <a:rPr lang="en-US" sz="4000" u="sng" dirty="0"/>
              <a:t>Introduction</a:t>
            </a:r>
          </a:p>
        </p:txBody>
      </p:sp>
      <p:sp>
        <p:nvSpPr>
          <p:cNvPr id="3" name="Content Placeholder 2"/>
          <p:cNvSpPr>
            <a:spLocks noGrp="1"/>
          </p:cNvSpPr>
          <p:nvPr>
            <p:ph idx="1"/>
          </p:nvPr>
        </p:nvSpPr>
        <p:spPr>
          <a:xfrm>
            <a:off x="838200" y="2771192"/>
            <a:ext cx="10515600" cy="3585158"/>
          </a:xfrm>
        </p:spPr>
        <p:txBody>
          <a:bodyPr/>
          <a:lstStyle/>
          <a:p>
            <a:pPr algn="just"/>
            <a:r>
              <a:rPr lang="en-US" dirty="0">
                <a:latin typeface="Times New Roman" panose="02020603050405020304" pitchFamily="18" charset="0"/>
                <a:cs typeface="Times New Roman" panose="02020603050405020304" pitchFamily="18" charset="0"/>
              </a:rPr>
              <a:t>Develop a model for automated detection and classification of brain tumors from MRI images.</a:t>
            </a:r>
          </a:p>
          <a:p>
            <a:pPr algn="just"/>
            <a:r>
              <a:rPr lang="en-US" dirty="0">
                <a:latin typeface="Times New Roman" panose="02020603050405020304" pitchFamily="18" charset="0"/>
                <a:cs typeface="Times New Roman" panose="02020603050405020304" pitchFamily="18" charset="0"/>
              </a:rPr>
              <a:t>Focus on processing MRI images, enhancing quality, reducing noise and extracting features for precise tumor identification.</a:t>
            </a:r>
          </a:p>
          <a:p>
            <a:pPr algn="just"/>
            <a:r>
              <a:rPr lang="en-US" dirty="0">
                <a:latin typeface="Times New Roman" panose="02020603050405020304" pitchFamily="18" charset="0"/>
                <a:cs typeface="Times New Roman" panose="02020603050405020304" pitchFamily="18" charset="0"/>
              </a:rPr>
              <a:t>Aim to improve diagnostic speed and accuracy, supporting optimized treatment planning for patients.</a:t>
            </a:r>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5</a:t>
            </a:fld>
            <a:endParaRPr lang="en-US"/>
          </a:p>
        </p:txBody>
      </p:sp>
      <p:pic>
        <p:nvPicPr>
          <p:cNvPr id="6" name="Picture 5"/>
          <p:cNvPicPr>
            <a:picLocks noChangeAspect="1"/>
          </p:cNvPicPr>
          <p:nvPr/>
        </p:nvPicPr>
        <p:blipFill>
          <a:blip r:embed="rId2"/>
          <a:stretch>
            <a:fillRect/>
          </a:stretch>
        </p:blipFill>
        <p:spPr>
          <a:xfrm>
            <a:off x="765175" y="160337"/>
            <a:ext cx="9753600" cy="1066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066" y="1564735"/>
            <a:ext cx="10515600" cy="373225"/>
          </a:xfrm>
        </p:spPr>
        <p:txBody>
          <a:bodyPr>
            <a:noAutofit/>
          </a:bodyPr>
          <a:lstStyle/>
          <a:p>
            <a:pPr algn="ctr"/>
            <a:r>
              <a:rPr lang="en-US" sz="4000" u="sng" dirty="0"/>
              <a:t>Literature Review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90457876"/>
              </p:ext>
            </p:extLst>
          </p:nvPr>
        </p:nvGraphicFramePr>
        <p:xfrm>
          <a:off x="157480" y="2266099"/>
          <a:ext cx="11828780" cy="4127237"/>
        </p:xfrm>
        <a:graphic>
          <a:graphicData uri="http://schemas.openxmlformats.org/drawingml/2006/table">
            <a:tbl>
              <a:tblPr firstRow="1" bandRow="1">
                <a:tableStyleId>{5C22544A-7EE6-4342-B048-85BDC9FD1C3A}</a:tableStyleId>
              </a:tblPr>
              <a:tblGrid>
                <a:gridCol w="649605">
                  <a:extLst>
                    <a:ext uri="{9D8B030D-6E8A-4147-A177-3AD203B41FA5}">
                      <a16:colId xmlns:a16="http://schemas.microsoft.com/office/drawing/2014/main" val="20000"/>
                    </a:ext>
                  </a:extLst>
                </a:gridCol>
                <a:gridCol w="2823845">
                  <a:extLst>
                    <a:ext uri="{9D8B030D-6E8A-4147-A177-3AD203B41FA5}">
                      <a16:colId xmlns:a16="http://schemas.microsoft.com/office/drawing/2014/main" val="20001"/>
                    </a:ext>
                  </a:extLst>
                </a:gridCol>
                <a:gridCol w="3164840">
                  <a:extLst>
                    <a:ext uri="{9D8B030D-6E8A-4147-A177-3AD203B41FA5}">
                      <a16:colId xmlns:a16="http://schemas.microsoft.com/office/drawing/2014/main" val="20002"/>
                    </a:ext>
                  </a:extLst>
                </a:gridCol>
                <a:gridCol w="2934335">
                  <a:extLst>
                    <a:ext uri="{9D8B030D-6E8A-4147-A177-3AD203B41FA5}">
                      <a16:colId xmlns:a16="http://schemas.microsoft.com/office/drawing/2014/main" val="20003"/>
                    </a:ext>
                  </a:extLst>
                </a:gridCol>
                <a:gridCol w="2256155">
                  <a:extLst>
                    <a:ext uri="{9D8B030D-6E8A-4147-A177-3AD203B41FA5}">
                      <a16:colId xmlns:a16="http://schemas.microsoft.com/office/drawing/2014/main" val="20004"/>
                    </a:ext>
                  </a:extLst>
                </a:gridCol>
              </a:tblGrid>
              <a:tr h="1018277">
                <a:tc>
                  <a:txBody>
                    <a:bodyPr/>
                    <a:lstStyle/>
                    <a:p>
                      <a:r>
                        <a:rPr lang="en-US" dirty="0" err="1"/>
                        <a:t>Sl</a:t>
                      </a:r>
                      <a:r>
                        <a:rPr lang="en-US" dirty="0"/>
                        <a:t> No.</a:t>
                      </a:r>
                    </a:p>
                  </a:txBody>
                  <a:tcPr/>
                </a:tc>
                <a:tc>
                  <a:txBody>
                    <a:bodyPr/>
                    <a:lstStyle/>
                    <a:p>
                      <a:r>
                        <a:rPr lang="en-US" dirty="0"/>
                        <a:t>Paper Title</a:t>
                      </a:r>
                    </a:p>
                  </a:txBody>
                  <a:tcPr/>
                </a:tc>
                <a:tc>
                  <a:txBody>
                    <a:bodyPr/>
                    <a:lstStyle/>
                    <a:p>
                      <a:r>
                        <a:rPr lang="en-US" dirty="0"/>
                        <a:t>Objective</a:t>
                      </a:r>
                    </a:p>
                  </a:txBody>
                  <a:tcPr/>
                </a:tc>
                <a:tc>
                  <a:txBody>
                    <a:bodyPr/>
                    <a:lstStyle/>
                    <a:p>
                      <a:r>
                        <a:rPr lang="en-US" dirty="0"/>
                        <a:t>Methods/Techniques/Algorith</a:t>
                      </a:r>
                      <a:r>
                        <a:rPr lang="en-US" baseline="0" dirty="0"/>
                        <a:t>m used</a:t>
                      </a:r>
                      <a:endParaRPr lang="en-US" dirty="0"/>
                    </a:p>
                  </a:txBody>
                  <a:tcPr/>
                </a:tc>
                <a:tc>
                  <a:txBody>
                    <a:bodyPr/>
                    <a:lstStyle/>
                    <a:p>
                      <a:r>
                        <a:rPr lang="en-US" dirty="0"/>
                        <a:t>Limitations /Disadvantages/Remarks</a:t>
                      </a:r>
                    </a:p>
                  </a:txBody>
                  <a:tcPr/>
                </a:tc>
                <a:extLst>
                  <a:ext uri="{0D108BD9-81ED-4DB2-BD59-A6C34878D82A}">
                    <a16:rowId xmlns:a16="http://schemas.microsoft.com/office/drawing/2014/main" val="10000"/>
                  </a:ext>
                </a:extLst>
              </a:tr>
              <a:tr h="1798320">
                <a:tc>
                  <a:txBody>
                    <a:bodyPr/>
                    <a:lstStyle/>
                    <a:p>
                      <a:r>
                        <a:rPr lang="en-US" dirty="0"/>
                        <a:t>1</a:t>
                      </a:r>
                    </a:p>
                  </a:txBody>
                  <a:tcPr/>
                </a:tc>
                <a:tc>
                  <a:txBody>
                    <a:bodyPr/>
                    <a:lstStyle/>
                    <a:p>
                      <a:r>
                        <a:rPr lang="en-US" sz="1600" dirty="0">
                          <a:latin typeface="Times New Roman" panose="02020603050405020304" pitchFamily="18" charset="0"/>
                          <a:cs typeface="Times New Roman" panose="02020603050405020304" pitchFamily="18" charset="0"/>
                          <a:sym typeface="+mn-ea"/>
                        </a:rPr>
                        <a:t>Brain Tumor Detection Based on Segmentation using MATLAB</a:t>
                      </a:r>
                    </a:p>
                  </a:txBody>
                  <a:tcPr/>
                </a:tc>
                <a:tc>
                  <a:txBody>
                    <a:bodyPr/>
                    <a:lstStyle/>
                    <a:p>
                      <a:r>
                        <a:rPr lang="en-US" sz="1600" dirty="0">
                          <a:latin typeface="Times New Roman" panose="02020603050405020304" pitchFamily="18" charset="0"/>
                          <a:cs typeface="Times New Roman" panose="02020603050405020304" pitchFamily="18" charset="0"/>
                          <a:sym typeface="+mn-ea"/>
                        </a:rPr>
                        <a:t>Develop a method to detect and localize brain tumors in MRI images using image processing.</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sym typeface="+mn-ea"/>
                        </a:rPr>
                        <a:t>Enhance tumor detection accuracy through pre-processing and k-means clustering</a:t>
                      </a:r>
                      <a:endParaRPr lang="en-US" sz="1600" dirty="0">
                        <a:latin typeface="Times New Roman" panose="02020603050405020304" pitchFamily="18" charset="0"/>
                        <a:cs typeface="Times New Roman" panose="02020603050405020304" pitchFamily="18" charset="0"/>
                      </a:endParaRPr>
                    </a:p>
                    <a:p>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sym typeface="+mn-ea"/>
                        </a:rPr>
                        <a:t>This brain tumor detection project uses MRI image preprocessing, K-means clustering for segmentation, and feature extraction to identify and highlight tumor regions</a:t>
                      </a:r>
                      <a:r>
                        <a:rPr lang="en-US" sz="1600" dirty="0">
                          <a:sym typeface="+mn-ea"/>
                        </a:rPr>
                        <a:t>.</a:t>
                      </a:r>
                      <a:endParaRPr lang="en-US" sz="1600" dirty="0"/>
                    </a:p>
                    <a:p>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sym typeface="+mn-ea"/>
                        </a:rPr>
                        <a:t>Limitations include the need for clear images, lower accuracy with different data, and challenges in pinpointing tumor locations</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22150">
                <a:tc>
                  <a:txBody>
                    <a:bodyPr/>
                    <a:lstStyle/>
                    <a:p>
                      <a:r>
                        <a:rPr lang="en-US" dirty="0"/>
                        <a:t>2</a:t>
                      </a:r>
                    </a:p>
                  </a:txBody>
                  <a:tcPr/>
                </a:tc>
                <a:tc>
                  <a:txBody>
                    <a:bodyPr/>
                    <a:lstStyle/>
                    <a:p>
                      <a:r>
                        <a:rPr lang="en-US" sz="1600" dirty="0">
                          <a:latin typeface="Times New Roman" panose="02020603050405020304" pitchFamily="18" charset="0"/>
                          <a:cs typeface="Times New Roman" panose="02020603050405020304" pitchFamily="18" charset="0"/>
                          <a:sym typeface="+mn-ea"/>
                        </a:rPr>
                        <a:t>Minimum Time Delay and More Efficient Image Filtering Brain Tumour Detection with the help of MATLAB</a:t>
                      </a:r>
                      <a:endParaRPr lang="en-US" sz="1600" dirty="0">
                        <a:latin typeface="Times New Roman" panose="02020603050405020304" pitchFamily="18" charset="0"/>
                        <a:cs typeface="Times New Roman" panose="02020603050405020304" pitchFamily="18" charset="0"/>
                      </a:endParaRPr>
                    </a:p>
                    <a:p>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rPr>
                        <a:t>Detect brain tumors in MRI and CT images using image processing.</a:t>
                      </a:r>
                    </a:p>
                    <a:p>
                      <a:r>
                        <a:rPr lang="en-US" sz="1600" dirty="0">
                          <a:latin typeface="Times New Roman" panose="02020603050405020304" pitchFamily="18" charset="0"/>
                          <a:cs typeface="Times New Roman" panose="02020603050405020304" pitchFamily="18" charset="0"/>
                        </a:rPr>
                        <a:t>Enhance tumor visibility with noise reduction and filtering</a:t>
                      </a:r>
                      <a:r>
                        <a:rPr lang="en-US" sz="1600" dirty="0"/>
                        <a:t>.</a:t>
                      </a:r>
                    </a:p>
                  </a:txBody>
                  <a:tcPr/>
                </a:tc>
                <a:tc>
                  <a:txBody>
                    <a:bodyPr/>
                    <a:lstStyle/>
                    <a:p>
                      <a:r>
                        <a:rPr lang="en-US" sz="1600" dirty="0">
                          <a:latin typeface="Times New Roman" panose="02020603050405020304" pitchFamily="18" charset="0"/>
                          <a:cs typeface="Times New Roman" panose="02020603050405020304" pitchFamily="18" charset="0"/>
                        </a:rPr>
                        <a:t>The paper applies MATLAB-based image processing for brain tumor detection, using noise-reducing filters (Gaussian HPF, Median</a:t>
                      </a:r>
                      <a:r>
                        <a:rPr lang="en-US" sz="1600" dirty="0"/>
                        <a:t>)</a:t>
                      </a:r>
                    </a:p>
                  </a:txBody>
                  <a:tcPr/>
                </a:tc>
                <a:tc>
                  <a:txBody>
                    <a:bodyPr/>
                    <a:lstStyle/>
                    <a:p>
                      <a:r>
                        <a:rPr lang="en-US" sz="1600" dirty="0">
                          <a:latin typeface="Times New Roman" panose="02020603050405020304" pitchFamily="18" charset="0"/>
                          <a:cs typeface="Times New Roman" panose="02020603050405020304" pitchFamily="18" charset="0"/>
                        </a:rPr>
                        <a:t>Sensitivity to image quality and noise.</a:t>
                      </a:r>
                    </a:p>
                    <a:p>
                      <a:r>
                        <a:rPr lang="en-US" sz="1600" dirty="0">
                          <a:latin typeface="Times New Roman" panose="02020603050405020304" pitchFamily="18" charset="0"/>
                          <a:cs typeface="Times New Roman" panose="02020603050405020304" pitchFamily="18" charset="0"/>
                        </a:rPr>
                        <a:t>Limited generalization across different MRI/CT types.</a:t>
                      </a:r>
                    </a:p>
                  </a:txBody>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a:xfrm>
            <a:off x="4038600" y="6443345"/>
            <a:ext cx="4114800" cy="365125"/>
          </a:xfrm>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6</a:t>
            </a:fld>
            <a:endParaRPr lang="en-US"/>
          </a:p>
        </p:txBody>
      </p:sp>
      <p:pic>
        <p:nvPicPr>
          <p:cNvPr id="3" name="Picture 2"/>
          <p:cNvPicPr>
            <a:picLocks noChangeAspect="1"/>
          </p:cNvPicPr>
          <p:nvPr/>
        </p:nvPicPr>
        <p:blipFill>
          <a:blip r:embed="rId2"/>
          <a:stretch>
            <a:fillRect/>
          </a:stretch>
        </p:blipFill>
        <p:spPr>
          <a:xfrm>
            <a:off x="765175" y="160337"/>
            <a:ext cx="9753600" cy="1066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505"/>
            <a:ext cx="10515600" cy="1076325"/>
          </a:xfrm>
        </p:spPr>
        <p:txBody>
          <a:bodyPr/>
          <a:lstStyle/>
          <a:p>
            <a:endParaRPr lang="en-US"/>
          </a:p>
        </p:txBody>
      </p:sp>
      <p:graphicFrame>
        <p:nvGraphicFramePr>
          <p:cNvPr id="6" name="Content Placeholder 5"/>
          <p:cNvGraphicFramePr>
            <a:graphicFrameLocks noGrp="1"/>
          </p:cNvGraphicFramePr>
          <p:nvPr>
            <p:ph idx="1"/>
            <p:custDataLst>
              <p:tags r:id="rId1"/>
            </p:custDataLst>
            <p:extLst>
              <p:ext uri="{D42A27DB-BD31-4B8C-83A1-F6EECF244321}">
                <p14:modId xmlns:p14="http://schemas.microsoft.com/office/powerpoint/2010/main" val="1438369434"/>
              </p:ext>
            </p:extLst>
          </p:nvPr>
        </p:nvGraphicFramePr>
        <p:xfrm>
          <a:off x="141316" y="1825625"/>
          <a:ext cx="11839229" cy="4722495"/>
        </p:xfrm>
        <a:graphic>
          <a:graphicData uri="http://schemas.openxmlformats.org/drawingml/2006/table">
            <a:tbl>
              <a:tblPr firstRow="1" bandRow="1">
                <a:tableStyleId>{5C22544A-7EE6-4342-B048-85BDC9FD1C3A}</a:tableStyleId>
              </a:tblPr>
              <a:tblGrid>
                <a:gridCol w="697519">
                  <a:extLst>
                    <a:ext uri="{9D8B030D-6E8A-4147-A177-3AD203B41FA5}">
                      <a16:colId xmlns:a16="http://schemas.microsoft.com/office/drawing/2014/main" val="20000"/>
                    </a:ext>
                  </a:extLst>
                </a:gridCol>
                <a:gridCol w="3569335">
                  <a:extLst>
                    <a:ext uri="{9D8B030D-6E8A-4147-A177-3AD203B41FA5}">
                      <a16:colId xmlns:a16="http://schemas.microsoft.com/office/drawing/2014/main" val="20001"/>
                    </a:ext>
                  </a:extLst>
                </a:gridCol>
                <a:gridCol w="273939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729865">
                  <a:extLst>
                    <a:ext uri="{9D8B030D-6E8A-4147-A177-3AD203B41FA5}">
                      <a16:colId xmlns:a16="http://schemas.microsoft.com/office/drawing/2014/main" val="20004"/>
                    </a:ext>
                  </a:extLst>
                </a:gridCol>
              </a:tblGrid>
              <a:tr h="676910">
                <a:tc>
                  <a:txBody>
                    <a:bodyPr/>
                    <a:lstStyle/>
                    <a:p>
                      <a:r>
                        <a:rPr lang="en-US" dirty="0" err="1"/>
                        <a:t>Sl</a:t>
                      </a:r>
                      <a:r>
                        <a:rPr lang="en-US" dirty="0"/>
                        <a:t> No.</a:t>
                      </a:r>
                    </a:p>
                  </a:txBody>
                  <a:tcPr/>
                </a:tc>
                <a:tc>
                  <a:txBody>
                    <a:bodyPr/>
                    <a:lstStyle/>
                    <a:p>
                      <a:r>
                        <a:rPr lang="en-US" dirty="0"/>
                        <a:t>Paper Title</a:t>
                      </a:r>
                    </a:p>
                  </a:txBody>
                  <a:tcPr/>
                </a:tc>
                <a:tc>
                  <a:txBody>
                    <a:bodyPr/>
                    <a:lstStyle/>
                    <a:p>
                      <a:r>
                        <a:rPr lang="en-US" dirty="0"/>
                        <a:t>Objective</a:t>
                      </a:r>
                    </a:p>
                  </a:txBody>
                  <a:tcPr/>
                </a:tc>
                <a:tc>
                  <a:txBody>
                    <a:bodyPr/>
                    <a:lstStyle/>
                    <a:p>
                      <a:r>
                        <a:rPr lang="en-US" dirty="0"/>
                        <a:t>Methods/Techniques/Algorith</a:t>
                      </a:r>
                      <a:r>
                        <a:rPr lang="en-US" baseline="0" dirty="0"/>
                        <a:t>m used</a:t>
                      </a:r>
                      <a:endParaRPr lang="en-US" dirty="0"/>
                    </a:p>
                  </a:txBody>
                  <a:tcPr/>
                </a:tc>
                <a:tc>
                  <a:txBody>
                    <a:bodyPr/>
                    <a:lstStyle/>
                    <a:p>
                      <a:r>
                        <a:rPr lang="en-US" dirty="0"/>
                        <a:t>Limitations /Disadvantages/Remarks</a:t>
                      </a:r>
                    </a:p>
                  </a:txBody>
                  <a:tcPr/>
                </a:tc>
                <a:extLst>
                  <a:ext uri="{0D108BD9-81ED-4DB2-BD59-A6C34878D82A}">
                    <a16:rowId xmlns:a16="http://schemas.microsoft.com/office/drawing/2014/main" val="10000"/>
                  </a:ext>
                </a:extLst>
              </a:tr>
              <a:tr h="2003425">
                <a:tc>
                  <a:txBody>
                    <a:bodyPr/>
                    <a:lstStyle/>
                    <a:p>
                      <a:pPr>
                        <a:buNone/>
                      </a:pPr>
                      <a:r>
                        <a:rPr lang="en-US" dirty="0"/>
                        <a:t>3</a:t>
                      </a:r>
                    </a:p>
                  </a:txBody>
                  <a:tcPr/>
                </a:tc>
                <a:tc>
                  <a:txBody>
                    <a:bodyPr/>
                    <a:lstStyle/>
                    <a:p>
                      <a:pPr>
                        <a:buNone/>
                      </a:pPr>
                      <a:r>
                        <a:rPr lang="en-US" sz="1600" dirty="0"/>
                        <a:t>Image Processing Techniques for Brain Tumor Detection</a:t>
                      </a:r>
                    </a:p>
                  </a:txBody>
                  <a:tcPr/>
                </a:tc>
                <a:tc>
                  <a:txBody>
                    <a:bodyPr/>
                    <a:lstStyle/>
                    <a:p>
                      <a:pPr>
                        <a:buNone/>
                      </a:pPr>
                      <a:r>
                        <a:rPr lang="en-US" sz="1600" dirty="0"/>
                        <a:t>The paper reviews image processing techniques for brain tumor detection in MRI images, focusing on preprocessing, post-processing, and segmentation methods.</a:t>
                      </a:r>
                    </a:p>
                  </a:txBody>
                  <a:tcPr/>
                </a:tc>
                <a:tc>
                  <a:txBody>
                    <a:bodyPr/>
                    <a:lstStyle/>
                    <a:p>
                      <a:pPr algn="l">
                        <a:buNone/>
                      </a:pPr>
                      <a:r>
                        <a:rPr lang="en-US" sz="1600" dirty="0"/>
                        <a:t>The paper uses Median Filtering, Edge </a:t>
                      </a:r>
                      <a:r>
                        <a:rPr lang="en-US" sz="1600" dirty="0" err="1"/>
                        <a:t>Detection,Thresholding</a:t>
                      </a:r>
                      <a:r>
                        <a:rPr lang="en-US" sz="1600" dirty="0"/>
                        <a:t> Watershed Algorithm, and Morphological Operations for brain tumor detection.</a:t>
                      </a:r>
                    </a:p>
                  </a:txBody>
                  <a:tcPr/>
                </a:tc>
                <a:tc>
                  <a:txBody>
                    <a:bodyPr/>
                    <a:lstStyle/>
                    <a:p>
                      <a:pPr>
                        <a:buNone/>
                      </a:pPr>
                      <a:r>
                        <a:rPr lang="en-US" sz="1600"/>
                        <a:t>The paper's limitations include high computational complexity, noise sensitivity, and the need for manual input in some methods.</a:t>
                      </a:r>
                    </a:p>
                  </a:txBody>
                  <a:tcPr/>
                </a:tc>
                <a:extLst>
                  <a:ext uri="{0D108BD9-81ED-4DB2-BD59-A6C34878D82A}">
                    <a16:rowId xmlns:a16="http://schemas.microsoft.com/office/drawing/2014/main" val="10001"/>
                  </a:ext>
                </a:extLst>
              </a:tr>
              <a:tr h="937260">
                <a:tc>
                  <a:txBody>
                    <a:bodyPr/>
                    <a:lstStyle/>
                    <a:p>
                      <a:pPr>
                        <a:buNone/>
                      </a:pPr>
                      <a:r>
                        <a:rPr lang="en-US"/>
                        <a:t>4</a:t>
                      </a:r>
                    </a:p>
                  </a:txBody>
                  <a:tcPr/>
                </a:tc>
                <a:tc>
                  <a:txBody>
                    <a:bodyPr/>
                    <a:lstStyle/>
                    <a:p>
                      <a:pPr>
                        <a:buNone/>
                      </a:pPr>
                      <a:r>
                        <a:rPr lang="en-US" sz="1600" dirty="0"/>
                        <a:t>Brain Tumor Detection based on Machine Learning Algorithms</a:t>
                      </a:r>
                    </a:p>
                  </a:txBody>
                  <a:tcPr/>
                </a:tc>
                <a:tc>
                  <a:txBody>
                    <a:bodyPr/>
                    <a:lstStyle/>
                    <a:p>
                      <a:pPr>
                        <a:buNone/>
                      </a:pPr>
                      <a:r>
                        <a:rPr lang="en-US" sz="1600" dirty="0"/>
                        <a:t>The paper presents an automated brain tumor detection system using GLCM for texture extraction and MLP and Naive Bayes for classification.</a:t>
                      </a:r>
                    </a:p>
                  </a:txBody>
                  <a:tcPr/>
                </a:tc>
                <a:tc>
                  <a:txBody>
                    <a:bodyPr/>
                    <a:lstStyle/>
                    <a:p>
                      <a:pPr>
                        <a:buNone/>
                      </a:pPr>
                      <a:r>
                        <a:rPr lang="en-US" sz="1600" dirty="0"/>
                        <a:t>The paper uses GLCM(</a:t>
                      </a:r>
                      <a:r>
                        <a:rPr lang="en-US" sz="1600" b="0" dirty="0">
                          <a:latin typeface="+mn-lt"/>
                          <a:cs typeface="Times New Roman" panose="02020603050405020304" pitchFamily="18" charset="0"/>
                        </a:rPr>
                        <a:t>Gray Level Co-occurrence Matrix</a:t>
                      </a:r>
                      <a:r>
                        <a:rPr lang="en-US" sz="1600" b="0" dirty="0">
                          <a:latin typeface="Times New Roman" panose="02020603050405020304" pitchFamily="18" charset="0"/>
                          <a:cs typeface="Times New Roman" panose="02020603050405020304" pitchFamily="18" charset="0"/>
                        </a:rPr>
                        <a:t>) </a:t>
                      </a:r>
                      <a:r>
                        <a:rPr lang="en-US" sz="1600" b="0" dirty="0"/>
                        <a:t> </a:t>
                      </a:r>
                      <a:r>
                        <a:rPr lang="en-US" sz="1600" dirty="0"/>
                        <a:t>for texture feature extraction and classifies brain MRI images using MLP and Naive Bayes algorithms</a:t>
                      </a:r>
                    </a:p>
                  </a:txBody>
                  <a:tcPr/>
                </a:tc>
                <a:tc>
                  <a:txBody>
                    <a:bodyPr/>
                    <a:lstStyle/>
                    <a:p>
                      <a:pPr>
                        <a:buNone/>
                      </a:pPr>
                      <a:r>
                        <a:rPr lang="en-US" sz="1600" dirty="0"/>
                        <a:t>The paper's limitations include a small dataset, reliance on texture features only, lower accuracy with Naive Bayes, and potential challenges in handling complex tumor variations.</a:t>
                      </a:r>
                    </a:p>
                  </a:txBody>
                  <a:tcPr/>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7</a:t>
            </a:fld>
            <a:endParaRPr lang="en-US"/>
          </a:p>
        </p:txBody>
      </p:sp>
      <p:pic>
        <p:nvPicPr>
          <p:cNvPr id="7" name="Picture 6"/>
          <p:cNvPicPr>
            <a:picLocks noChangeAspect="1"/>
          </p:cNvPicPr>
          <p:nvPr/>
        </p:nvPicPr>
        <p:blipFill>
          <a:blip r:embed="rId3"/>
          <a:stretch>
            <a:fillRect/>
          </a:stretch>
        </p:blipFill>
        <p:spPr>
          <a:xfrm>
            <a:off x="765175" y="160337"/>
            <a:ext cx="9753600" cy="1066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CDB9F8F-BE24-2B46-9DF1-296597124876}"/>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F8CFD30D-9BC0-326B-B69F-A9A83E765082}"/>
              </a:ext>
            </a:extLst>
          </p:cNvPr>
          <p:cNvSpPr>
            <a:spLocks noGrp="1"/>
          </p:cNvSpPr>
          <p:nvPr>
            <p:ph type="sldNum" sz="quarter" idx="12"/>
          </p:nvPr>
        </p:nvSpPr>
        <p:spPr/>
        <p:txBody>
          <a:bodyPr/>
          <a:lstStyle/>
          <a:p>
            <a:fld id="{14664CE2-A199-492D-95BF-8BD1FF457610}" type="slidenum">
              <a:rPr lang="en-US" smtClean="0"/>
              <a:t>8</a:t>
            </a:fld>
            <a:endParaRPr lang="en-US"/>
          </a:p>
        </p:txBody>
      </p:sp>
      <p:graphicFrame>
        <p:nvGraphicFramePr>
          <p:cNvPr id="6" name="Content Placeholder 5">
            <a:extLst>
              <a:ext uri="{FF2B5EF4-FFF2-40B4-BE49-F238E27FC236}">
                <a16:creationId xmlns:a16="http://schemas.microsoft.com/office/drawing/2014/main" id="{A633901A-6043-F728-10A2-CEBB57EE5790}"/>
              </a:ext>
            </a:extLst>
          </p:cNvPr>
          <p:cNvGraphicFramePr>
            <a:graphicFrameLocks/>
          </p:cNvGraphicFramePr>
          <p:nvPr>
            <p:extLst>
              <p:ext uri="{D42A27DB-BD31-4B8C-83A1-F6EECF244321}">
                <p14:modId xmlns:p14="http://schemas.microsoft.com/office/powerpoint/2010/main" val="494949873"/>
              </p:ext>
            </p:extLst>
          </p:nvPr>
        </p:nvGraphicFramePr>
        <p:xfrm>
          <a:off x="272473" y="1739494"/>
          <a:ext cx="11836400" cy="5005070"/>
        </p:xfrm>
        <a:graphic>
          <a:graphicData uri="http://schemas.openxmlformats.org/drawingml/2006/table">
            <a:tbl>
              <a:tblPr firstRow="1" bandRow="1">
                <a:tableStyleId>{5C22544A-7EE6-4342-B048-85BDC9FD1C3A}</a:tableStyleId>
              </a:tblPr>
              <a:tblGrid>
                <a:gridCol w="694690">
                  <a:extLst>
                    <a:ext uri="{9D8B030D-6E8A-4147-A177-3AD203B41FA5}">
                      <a16:colId xmlns:a16="http://schemas.microsoft.com/office/drawing/2014/main" val="3403984503"/>
                    </a:ext>
                  </a:extLst>
                </a:gridCol>
                <a:gridCol w="2299739">
                  <a:extLst>
                    <a:ext uri="{9D8B030D-6E8A-4147-A177-3AD203B41FA5}">
                      <a16:colId xmlns:a16="http://schemas.microsoft.com/office/drawing/2014/main" val="1843177795"/>
                    </a:ext>
                  </a:extLst>
                </a:gridCol>
                <a:gridCol w="3258589">
                  <a:extLst>
                    <a:ext uri="{9D8B030D-6E8A-4147-A177-3AD203B41FA5}">
                      <a16:colId xmlns:a16="http://schemas.microsoft.com/office/drawing/2014/main" val="977092991"/>
                    </a:ext>
                  </a:extLst>
                </a:gridCol>
                <a:gridCol w="2853517">
                  <a:extLst>
                    <a:ext uri="{9D8B030D-6E8A-4147-A177-3AD203B41FA5}">
                      <a16:colId xmlns:a16="http://schemas.microsoft.com/office/drawing/2014/main" val="1322476060"/>
                    </a:ext>
                  </a:extLst>
                </a:gridCol>
                <a:gridCol w="2729865">
                  <a:extLst>
                    <a:ext uri="{9D8B030D-6E8A-4147-A177-3AD203B41FA5}">
                      <a16:colId xmlns:a16="http://schemas.microsoft.com/office/drawing/2014/main" val="2776396327"/>
                    </a:ext>
                  </a:extLst>
                </a:gridCol>
              </a:tblGrid>
              <a:tr h="676910">
                <a:tc>
                  <a:txBody>
                    <a:bodyPr/>
                    <a:lstStyle/>
                    <a:p>
                      <a:r>
                        <a:rPr lang="en-US" dirty="0" err="1"/>
                        <a:t>Sl</a:t>
                      </a:r>
                      <a:r>
                        <a:rPr lang="en-US" dirty="0"/>
                        <a:t> No.</a:t>
                      </a:r>
                    </a:p>
                  </a:txBody>
                  <a:tcPr/>
                </a:tc>
                <a:tc>
                  <a:txBody>
                    <a:bodyPr/>
                    <a:lstStyle/>
                    <a:p>
                      <a:r>
                        <a:rPr lang="en-US" dirty="0"/>
                        <a:t>Paper Title</a:t>
                      </a:r>
                    </a:p>
                  </a:txBody>
                  <a:tcPr/>
                </a:tc>
                <a:tc>
                  <a:txBody>
                    <a:bodyPr/>
                    <a:lstStyle/>
                    <a:p>
                      <a:r>
                        <a:rPr lang="en-US" dirty="0"/>
                        <a:t>Objective</a:t>
                      </a:r>
                    </a:p>
                  </a:txBody>
                  <a:tcPr/>
                </a:tc>
                <a:tc>
                  <a:txBody>
                    <a:bodyPr/>
                    <a:lstStyle/>
                    <a:p>
                      <a:r>
                        <a:rPr lang="en-US" dirty="0"/>
                        <a:t>Methods/Techniques/Algorith</a:t>
                      </a:r>
                      <a:r>
                        <a:rPr lang="en-US" baseline="0" dirty="0"/>
                        <a:t>m used</a:t>
                      </a:r>
                      <a:endParaRPr lang="en-US" dirty="0"/>
                    </a:p>
                  </a:txBody>
                  <a:tcPr/>
                </a:tc>
                <a:tc>
                  <a:txBody>
                    <a:bodyPr/>
                    <a:lstStyle/>
                    <a:p>
                      <a:r>
                        <a:rPr lang="en-US" dirty="0"/>
                        <a:t>Limitations /Disadvantages/Remarks</a:t>
                      </a:r>
                    </a:p>
                  </a:txBody>
                  <a:tcPr/>
                </a:tc>
                <a:extLst>
                  <a:ext uri="{0D108BD9-81ED-4DB2-BD59-A6C34878D82A}">
                    <a16:rowId xmlns:a16="http://schemas.microsoft.com/office/drawing/2014/main" val="1133838408"/>
                  </a:ext>
                </a:extLst>
              </a:tr>
              <a:tr h="2003425">
                <a:tc>
                  <a:txBody>
                    <a:bodyPr/>
                    <a:lstStyle/>
                    <a:p>
                      <a:pPr>
                        <a:buNone/>
                      </a:pPr>
                      <a:r>
                        <a:rPr lang="en-US" dirty="0"/>
                        <a:t>5</a:t>
                      </a:r>
                    </a:p>
                  </a:txBody>
                  <a:tcPr/>
                </a:tc>
                <a:tc>
                  <a:txBody>
                    <a:bodyPr/>
                    <a:lstStyle/>
                    <a:p>
                      <a:pPr>
                        <a:buNone/>
                      </a:pPr>
                      <a:r>
                        <a:rPr lang="en-US" sz="1600" dirty="0"/>
                        <a:t>Brain Tumor Detection from MRI Image using Digital Image Processing</a:t>
                      </a:r>
                    </a:p>
                  </a:txBody>
                  <a:tcPr/>
                </a:tc>
                <a:tc>
                  <a:txBody>
                    <a:bodyPr/>
                    <a:lstStyle/>
                    <a:p>
                      <a:pPr>
                        <a:buNone/>
                      </a:pPr>
                      <a:r>
                        <a:rPr lang="en-US" sz="1600" dirty="0"/>
                        <a:t>The paper aims to detect brain tumors in MRI images using digital image processing techniques to improve diagnosis accuracy, segmentation, and tumor region identification.</a:t>
                      </a:r>
                    </a:p>
                  </a:txBody>
                  <a:tcPr/>
                </a:tc>
                <a:tc>
                  <a:txBody>
                    <a:bodyPr/>
                    <a:lstStyle/>
                    <a:p>
                      <a:pPr algn="l">
                        <a:buNone/>
                      </a:pPr>
                      <a:r>
                        <a:rPr lang="en-IN" sz="1600" dirty="0"/>
                        <a:t>The study employs preprocessing, segmentation, filtering, morphological operations, histogram equalization, watershed segmentation, median filtering, and MATLAB-based algorithms for enhanced </a:t>
                      </a:r>
                      <a:r>
                        <a:rPr lang="en-IN" sz="1600" dirty="0" err="1"/>
                        <a:t>tumor</a:t>
                      </a:r>
                      <a:r>
                        <a:rPr lang="en-IN" sz="1600" dirty="0"/>
                        <a:t> detection and analysis.</a:t>
                      </a:r>
                      <a:endParaRPr lang="en-US" sz="1600" dirty="0"/>
                    </a:p>
                  </a:txBody>
                  <a:tcPr/>
                </a:tc>
                <a:tc>
                  <a:txBody>
                    <a:bodyPr/>
                    <a:lstStyle/>
                    <a:p>
                      <a:pPr>
                        <a:buNone/>
                      </a:pPr>
                      <a:r>
                        <a:rPr lang="en-US" sz="1600" dirty="0"/>
                        <a:t>Challenges include noise interference, complex preprocessing, dependency on MRI quality, false positives, computational cost, and limitations in handling irregular tumor shapes affecting detection accuracy.</a:t>
                      </a:r>
                    </a:p>
                  </a:txBody>
                  <a:tcPr/>
                </a:tc>
                <a:extLst>
                  <a:ext uri="{0D108BD9-81ED-4DB2-BD59-A6C34878D82A}">
                    <a16:rowId xmlns:a16="http://schemas.microsoft.com/office/drawing/2014/main" val="1506120476"/>
                  </a:ext>
                </a:extLst>
              </a:tr>
              <a:tr h="937260">
                <a:tc>
                  <a:txBody>
                    <a:bodyPr/>
                    <a:lstStyle/>
                    <a:p>
                      <a:pPr>
                        <a:buNone/>
                      </a:pPr>
                      <a:r>
                        <a:rPr lang="en-US" dirty="0"/>
                        <a:t>6</a:t>
                      </a:r>
                    </a:p>
                  </a:txBody>
                  <a:tcPr/>
                </a:tc>
                <a:tc>
                  <a:txBody>
                    <a:bodyPr/>
                    <a:lstStyle/>
                    <a:p>
                      <a:pPr>
                        <a:buNone/>
                      </a:pPr>
                      <a:r>
                        <a:rPr lang="en-US" sz="1600" dirty="0"/>
                        <a:t>Brain tumor MRI image segmentation and detection in image processing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To segment and detect brain tumors from MRI images using K-means clustering followed by morphological filtering, improving accuracy while reducing misclustered regions in medical imaging.</a:t>
                      </a:r>
                    </a:p>
                    <a:p>
                      <a:pPr>
                        <a:buNone/>
                      </a:pPr>
                      <a:endParaRPr lang="en-US" sz="1600" dirty="0"/>
                    </a:p>
                  </a:txBody>
                  <a:tcPr/>
                </a:tc>
                <a:tc>
                  <a:txBody>
                    <a:bodyPr/>
                    <a:lstStyle/>
                    <a:p>
                      <a:pPr>
                        <a:buNone/>
                      </a:pPr>
                      <a:r>
                        <a:rPr lang="en-US" sz="1600" dirty="0"/>
                        <a:t>K-means clustering segments brain MRI images, followed by morphological filtering to remove misclustered regions, enhancing tumor detection accuracy and reducing false-positive regions in segmentation</a:t>
                      </a:r>
                    </a:p>
                  </a:txBody>
                  <a:tcPr/>
                </a:tc>
                <a:tc>
                  <a:txBody>
                    <a:bodyPr/>
                    <a:lstStyle/>
                    <a:p>
                      <a:pPr>
                        <a:buNone/>
                      </a:pPr>
                      <a:r>
                        <a:rPr lang="en-US" sz="1600" dirty="0"/>
                        <a:t>The approach depends on proper cluster selection, may struggle with complex tumor shapes, and requires preprocessing to remove noise, affecting accuracy in highly degraded images</a:t>
                      </a:r>
                    </a:p>
                  </a:txBody>
                  <a:tcPr/>
                </a:tc>
                <a:extLst>
                  <a:ext uri="{0D108BD9-81ED-4DB2-BD59-A6C34878D82A}">
                    <a16:rowId xmlns:a16="http://schemas.microsoft.com/office/drawing/2014/main" val="2445217735"/>
                  </a:ext>
                </a:extLst>
              </a:tr>
            </a:tbl>
          </a:graphicData>
        </a:graphic>
      </p:graphicFrame>
      <p:pic>
        <p:nvPicPr>
          <p:cNvPr id="7" name="Picture 6">
            <a:extLst>
              <a:ext uri="{FF2B5EF4-FFF2-40B4-BE49-F238E27FC236}">
                <a16:creationId xmlns:a16="http://schemas.microsoft.com/office/drawing/2014/main" id="{2F187ED8-A5BD-7B63-63B1-EC3674CD2B3B}"/>
              </a:ext>
            </a:extLst>
          </p:cNvPr>
          <p:cNvPicPr>
            <a:picLocks noChangeAspect="1"/>
          </p:cNvPicPr>
          <p:nvPr/>
        </p:nvPicPr>
        <p:blipFill>
          <a:blip r:embed="rId2"/>
          <a:stretch>
            <a:fillRect/>
          </a:stretch>
        </p:blipFill>
        <p:spPr>
          <a:xfrm>
            <a:off x="1095895" y="255325"/>
            <a:ext cx="9753600" cy="1066800"/>
          </a:xfrm>
          <a:prstGeom prst="rect">
            <a:avLst/>
          </a:prstGeom>
        </p:spPr>
      </p:pic>
    </p:spTree>
    <p:extLst>
      <p:ext uri="{BB962C8B-B14F-4D97-AF65-F5344CB8AC3E}">
        <p14:creationId xmlns:p14="http://schemas.microsoft.com/office/powerpoint/2010/main" val="2536801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FC4C8-19D6-D101-FC53-B4DCA3E4FBF7}"/>
              </a:ext>
            </a:extLst>
          </p:cNvPr>
          <p:cNvSpPr>
            <a:spLocks noGrp="1"/>
          </p:cNvSpPr>
          <p:nvPr>
            <p:ph type="title"/>
          </p:nvPr>
        </p:nvSpPr>
        <p:spPr>
          <a:xfrm>
            <a:off x="929640" y="365125"/>
            <a:ext cx="10424160" cy="851535"/>
          </a:xfrm>
        </p:spPr>
        <p:txBody>
          <a:bodyPr/>
          <a:lstStyle/>
          <a:p>
            <a:endParaRPr lang="en-IN" dirty="0"/>
          </a:p>
        </p:txBody>
      </p:sp>
      <p:graphicFrame>
        <p:nvGraphicFramePr>
          <p:cNvPr id="6" name="Content Placeholder 5">
            <a:extLst>
              <a:ext uri="{FF2B5EF4-FFF2-40B4-BE49-F238E27FC236}">
                <a16:creationId xmlns:a16="http://schemas.microsoft.com/office/drawing/2014/main" id="{97DBC069-E7D1-85CE-2A59-6159708F270A}"/>
              </a:ext>
            </a:extLst>
          </p:cNvPr>
          <p:cNvGraphicFramePr>
            <a:graphicFrameLocks noGrp="1"/>
          </p:cNvGraphicFramePr>
          <p:nvPr>
            <p:ph idx="1"/>
            <p:extLst>
              <p:ext uri="{D42A27DB-BD31-4B8C-83A1-F6EECF244321}">
                <p14:modId xmlns:p14="http://schemas.microsoft.com/office/powerpoint/2010/main" val="4024548677"/>
              </p:ext>
            </p:extLst>
          </p:nvPr>
        </p:nvGraphicFramePr>
        <p:xfrm>
          <a:off x="177800" y="1595120"/>
          <a:ext cx="11836400" cy="4761230"/>
        </p:xfrm>
        <a:graphic>
          <a:graphicData uri="http://schemas.openxmlformats.org/drawingml/2006/table">
            <a:tbl>
              <a:tblPr firstRow="1" bandRow="1">
                <a:tableStyleId>{5C22544A-7EE6-4342-B048-85BDC9FD1C3A}</a:tableStyleId>
              </a:tblPr>
              <a:tblGrid>
                <a:gridCol w="694690">
                  <a:extLst>
                    <a:ext uri="{9D8B030D-6E8A-4147-A177-3AD203B41FA5}">
                      <a16:colId xmlns:a16="http://schemas.microsoft.com/office/drawing/2014/main" val="3403984503"/>
                    </a:ext>
                  </a:extLst>
                </a:gridCol>
                <a:gridCol w="2357005">
                  <a:extLst>
                    <a:ext uri="{9D8B030D-6E8A-4147-A177-3AD203B41FA5}">
                      <a16:colId xmlns:a16="http://schemas.microsoft.com/office/drawing/2014/main" val="1843177795"/>
                    </a:ext>
                  </a:extLst>
                </a:gridCol>
                <a:gridCol w="3204556">
                  <a:extLst>
                    <a:ext uri="{9D8B030D-6E8A-4147-A177-3AD203B41FA5}">
                      <a16:colId xmlns:a16="http://schemas.microsoft.com/office/drawing/2014/main" val="977092991"/>
                    </a:ext>
                  </a:extLst>
                </a:gridCol>
                <a:gridCol w="2850284">
                  <a:extLst>
                    <a:ext uri="{9D8B030D-6E8A-4147-A177-3AD203B41FA5}">
                      <a16:colId xmlns:a16="http://schemas.microsoft.com/office/drawing/2014/main" val="1322476060"/>
                    </a:ext>
                  </a:extLst>
                </a:gridCol>
                <a:gridCol w="2729865">
                  <a:extLst>
                    <a:ext uri="{9D8B030D-6E8A-4147-A177-3AD203B41FA5}">
                      <a16:colId xmlns:a16="http://schemas.microsoft.com/office/drawing/2014/main" val="2776396327"/>
                    </a:ext>
                  </a:extLst>
                </a:gridCol>
              </a:tblGrid>
              <a:tr h="676910">
                <a:tc>
                  <a:txBody>
                    <a:bodyPr/>
                    <a:lstStyle/>
                    <a:p>
                      <a:r>
                        <a:rPr lang="en-US" dirty="0" err="1"/>
                        <a:t>Sl</a:t>
                      </a:r>
                      <a:r>
                        <a:rPr lang="en-US" dirty="0"/>
                        <a:t> No.</a:t>
                      </a:r>
                    </a:p>
                  </a:txBody>
                  <a:tcPr/>
                </a:tc>
                <a:tc>
                  <a:txBody>
                    <a:bodyPr/>
                    <a:lstStyle/>
                    <a:p>
                      <a:r>
                        <a:rPr lang="en-US" dirty="0"/>
                        <a:t>Paper Title</a:t>
                      </a:r>
                    </a:p>
                  </a:txBody>
                  <a:tcPr/>
                </a:tc>
                <a:tc>
                  <a:txBody>
                    <a:bodyPr/>
                    <a:lstStyle/>
                    <a:p>
                      <a:r>
                        <a:rPr lang="en-US" dirty="0"/>
                        <a:t>Objective</a:t>
                      </a:r>
                    </a:p>
                  </a:txBody>
                  <a:tcPr/>
                </a:tc>
                <a:tc>
                  <a:txBody>
                    <a:bodyPr/>
                    <a:lstStyle/>
                    <a:p>
                      <a:r>
                        <a:rPr lang="en-US" dirty="0"/>
                        <a:t>Methods/Techniques/Algorith</a:t>
                      </a:r>
                      <a:r>
                        <a:rPr lang="en-US" baseline="0" dirty="0"/>
                        <a:t>m used</a:t>
                      </a:r>
                      <a:endParaRPr lang="en-US" dirty="0"/>
                    </a:p>
                  </a:txBody>
                  <a:tcPr/>
                </a:tc>
                <a:tc>
                  <a:txBody>
                    <a:bodyPr/>
                    <a:lstStyle/>
                    <a:p>
                      <a:r>
                        <a:rPr lang="en-US" dirty="0"/>
                        <a:t>Limitations /Disadvantages/Remarks</a:t>
                      </a:r>
                    </a:p>
                  </a:txBody>
                  <a:tcPr/>
                </a:tc>
                <a:extLst>
                  <a:ext uri="{0D108BD9-81ED-4DB2-BD59-A6C34878D82A}">
                    <a16:rowId xmlns:a16="http://schemas.microsoft.com/office/drawing/2014/main" val="1133838408"/>
                  </a:ext>
                </a:extLst>
              </a:tr>
              <a:tr h="1568220">
                <a:tc>
                  <a:txBody>
                    <a:bodyPr/>
                    <a:lstStyle/>
                    <a:p>
                      <a:pPr>
                        <a:buNone/>
                      </a:pPr>
                      <a:r>
                        <a:rPr lang="en-US" dirty="0"/>
                        <a:t>7</a:t>
                      </a:r>
                    </a:p>
                  </a:txBody>
                  <a:tcPr/>
                </a:tc>
                <a:tc>
                  <a:txBody>
                    <a:bodyPr/>
                    <a:lstStyle/>
                    <a:p>
                      <a:pPr>
                        <a:buNone/>
                      </a:pPr>
                      <a:r>
                        <a:rPr lang="en-IN" sz="1600" dirty="0"/>
                        <a:t>Image Processing Techniques for Brain </a:t>
                      </a:r>
                      <a:r>
                        <a:rPr lang="en-IN" sz="1600" dirty="0" err="1"/>
                        <a:t>Tumor</a:t>
                      </a:r>
                      <a:r>
                        <a:rPr lang="en-IN" sz="1600" dirty="0"/>
                        <a:t> Detection</a:t>
                      </a:r>
                      <a:endParaRPr lang="en-US" sz="1600" dirty="0"/>
                    </a:p>
                  </a:txBody>
                  <a:tcPr/>
                </a:tc>
                <a:tc>
                  <a:txBody>
                    <a:bodyPr/>
                    <a:lstStyle/>
                    <a:p>
                      <a:pPr>
                        <a:buNone/>
                      </a:pPr>
                      <a:r>
                        <a:rPr lang="en-US" sz="1600" dirty="0"/>
                        <a:t>the paper aims to analyze and propose a novel approach for solving [specific problem], improving efficiency, accuracy, and effectiveness using advanced techniques and methodologies.</a:t>
                      </a:r>
                    </a:p>
                  </a:txBody>
                  <a:tcPr/>
                </a:tc>
                <a:tc>
                  <a:txBody>
                    <a:bodyPr/>
                    <a:lstStyle/>
                    <a:p>
                      <a:pPr algn="l">
                        <a:buNone/>
                      </a:pPr>
                      <a:r>
                        <a:rPr lang="en-US" sz="1600" dirty="0"/>
                        <a:t>The study employs [specific method], integrating [algorithm/technique] for enhanced performance. It utilizes [data source] and applies [analysis method] to achieve optimal results in real-world applications.</a:t>
                      </a:r>
                    </a:p>
                  </a:txBody>
                  <a:tcPr/>
                </a:tc>
                <a:tc>
                  <a:txBody>
                    <a:bodyPr/>
                    <a:lstStyle/>
                    <a:p>
                      <a:pPr>
                        <a:buNone/>
                      </a:pPr>
                      <a:r>
                        <a:rPr lang="en-US" sz="1600" dirty="0"/>
                        <a:t>Despite its advantages, the approach faces limitations, such as [constraint]. Further improvements are necessary to address scalability, computational efficiency, and real-world applicability for broader impact.</a:t>
                      </a:r>
                    </a:p>
                  </a:txBody>
                  <a:tcPr/>
                </a:tc>
                <a:extLst>
                  <a:ext uri="{0D108BD9-81ED-4DB2-BD59-A6C34878D82A}">
                    <a16:rowId xmlns:a16="http://schemas.microsoft.com/office/drawing/2014/main" val="1506120476"/>
                  </a:ext>
                </a:extLst>
              </a:tr>
              <a:tr h="937260">
                <a:tc>
                  <a:txBody>
                    <a:bodyPr/>
                    <a:lstStyle/>
                    <a:p>
                      <a:pPr>
                        <a:buNone/>
                      </a:pPr>
                      <a:r>
                        <a:rPr lang="en-US" dirty="0"/>
                        <a:t>8</a:t>
                      </a:r>
                    </a:p>
                  </a:txBody>
                  <a:tcPr/>
                </a:tc>
                <a:tc>
                  <a:txBody>
                    <a:bodyPr/>
                    <a:lstStyle/>
                    <a:p>
                      <a:pPr>
                        <a:buNone/>
                      </a:pPr>
                      <a:r>
                        <a:rPr lang="en-US" sz="1600" dirty="0"/>
                        <a:t>Image Segmentation and Identification of Brain Tumor using FFT Techniques of MRI Image</a:t>
                      </a:r>
                    </a:p>
                  </a:txBody>
                  <a:tcPr/>
                </a:tc>
                <a:tc>
                  <a:txBody>
                    <a:bodyPr/>
                    <a:lstStyle/>
                    <a:p>
                      <a:pPr>
                        <a:buNone/>
                      </a:pPr>
                      <a:r>
                        <a:rPr lang="en-US" sz="1600" dirty="0"/>
                        <a:t>The objective is to develop an efficient brain tumor detection system using image segmentation techniques to accurately identify and classify tumor regions in MRI scans.</a:t>
                      </a:r>
                    </a:p>
                  </a:txBody>
                  <a:tcPr/>
                </a:tc>
                <a:tc>
                  <a:txBody>
                    <a:bodyPr/>
                    <a:lstStyle/>
                    <a:p>
                      <a:pPr>
                        <a:buNone/>
                      </a:pPr>
                      <a:r>
                        <a:rPr lang="en-US" sz="1600" dirty="0"/>
                        <a:t>The study employs image preprocessing, segmentation, morphological operations, and machine learning algorithms such as CNN and SVM for precise brain tumor detection and classification</a:t>
                      </a:r>
                    </a:p>
                  </a:txBody>
                  <a:tcPr/>
                </a:tc>
                <a:tc>
                  <a:txBody>
                    <a:bodyPr/>
                    <a:lstStyle/>
                    <a:p>
                      <a:pPr>
                        <a:buNone/>
                      </a:pPr>
                      <a:r>
                        <a:rPr lang="en-US" sz="1600" dirty="0"/>
                        <a:t>Challenges include computational complexity, false positives, limited dataset generalization, and accuracy variations due to noise and artifacts in MRI images affecting segmentation performance.</a:t>
                      </a:r>
                    </a:p>
                  </a:txBody>
                  <a:tcPr/>
                </a:tc>
                <a:extLst>
                  <a:ext uri="{0D108BD9-81ED-4DB2-BD59-A6C34878D82A}">
                    <a16:rowId xmlns:a16="http://schemas.microsoft.com/office/drawing/2014/main" val="2445217735"/>
                  </a:ext>
                </a:extLst>
              </a:tr>
            </a:tbl>
          </a:graphicData>
        </a:graphic>
      </p:graphicFrame>
      <p:sp>
        <p:nvSpPr>
          <p:cNvPr id="4" name="Footer Placeholder 3">
            <a:extLst>
              <a:ext uri="{FF2B5EF4-FFF2-40B4-BE49-F238E27FC236}">
                <a16:creationId xmlns:a16="http://schemas.microsoft.com/office/drawing/2014/main" id="{A03FB195-A41B-21B9-8D07-8E0AC402F414}"/>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79C3E95A-053D-6391-A8E3-AC1365523E1F}"/>
              </a:ext>
            </a:extLst>
          </p:cNvPr>
          <p:cNvSpPr>
            <a:spLocks noGrp="1"/>
          </p:cNvSpPr>
          <p:nvPr>
            <p:ph type="sldNum" sz="quarter" idx="12"/>
          </p:nvPr>
        </p:nvSpPr>
        <p:spPr/>
        <p:txBody>
          <a:bodyPr/>
          <a:lstStyle/>
          <a:p>
            <a:fld id="{14664CE2-A199-492D-95BF-8BD1FF457610}" type="slidenum">
              <a:rPr lang="en-US" smtClean="0"/>
              <a:t>9</a:t>
            </a:fld>
            <a:endParaRPr lang="en-US"/>
          </a:p>
        </p:txBody>
      </p:sp>
      <p:pic>
        <p:nvPicPr>
          <p:cNvPr id="8" name="Picture 7">
            <a:extLst>
              <a:ext uri="{FF2B5EF4-FFF2-40B4-BE49-F238E27FC236}">
                <a16:creationId xmlns:a16="http://schemas.microsoft.com/office/drawing/2014/main" id="{1D1644CD-F9AE-3B9B-7837-F11468416F45}"/>
              </a:ext>
            </a:extLst>
          </p:cNvPr>
          <p:cNvPicPr>
            <a:picLocks noChangeAspect="1"/>
          </p:cNvPicPr>
          <p:nvPr/>
        </p:nvPicPr>
        <p:blipFill>
          <a:blip r:embed="rId2"/>
          <a:stretch>
            <a:fillRect/>
          </a:stretch>
        </p:blipFill>
        <p:spPr>
          <a:xfrm>
            <a:off x="929640" y="257492"/>
            <a:ext cx="9753600" cy="1066800"/>
          </a:xfrm>
          <a:prstGeom prst="rect">
            <a:avLst/>
          </a:prstGeom>
        </p:spPr>
      </p:pic>
    </p:spTree>
    <p:extLst>
      <p:ext uri="{BB962C8B-B14F-4D97-AF65-F5344CB8AC3E}">
        <p14:creationId xmlns:p14="http://schemas.microsoft.com/office/powerpoint/2010/main" val="226904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DA8F6-EE86-82D6-DF8B-E7A4CA3A48BF}"/>
              </a:ext>
            </a:extLst>
          </p:cNvPr>
          <p:cNvSpPr>
            <a:spLocks noGrp="1"/>
          </p:cNvSpPr>
          <p:nvPr>
            <p:ph idx="1"/>
          </p:nvPr>
        </p:nvSpPr>
        <p:spPr>
          <a:xfrm>
            <a:off x="838200" y="2261061"/>
            <a:ext cx="10515600" cy="3915901"/>
          </a:xfrm>
        </p:spPr>
        <p:txBody>
          <a:bodyPr/>
          <a:lstStyle/>
          <a:p>
            <a:r>
              <a:rPr lang="en-IN" dirty="0">
                <a:latin typeface="Times New Roman" panose="02020603050405020304" pitchFamily="18" charset="0"/>
                <a:cs typeface="Times New Roman" panose="02020603050405020304" pitchFamily="18" charset="0"/>
              </a:rPr>
              <a:t>Digital Image Processing-Based Methods.</a:t>
            </a:r>
          </a:p>
          <a:p>
            <a:r>
              <a:rPr lang="en-US" dirty="0">
                <a:latin typeface="Times New Roman" panose="02020603050405020304" pitchFamily="18" charset="0"/>
                <a:cs typeface="Times New Roman" panose="02020603050405020304" pitchFamily="18" charset="0"/>
              </a:rPr>
              <a:t>Machine Learning (ML) and Deep Learning (DL) Approaches</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Clustering-Based Segmentation Approaches.</a:t>
            </a:r>
          </a:p>
          <a:p>
            <a:r>
              <a:rPr lang="en-IN" dirty="0">
                <a:latin typeface="Times New Roman" panose="02020603050405020304" pitchFamily="18" charset="0"/>
                <a:cs typeface="Times New Roman" panose="02020603050405020304" pitchFamily="18" charset="0"/>
              </a:rPr>
              <a:t>Fourier Transform-Based Segmentation.</a:t>
            </a:r>
          </a:p>
          <a:p>
            <a:r>
              <a:rPr lang="en-IN" sz="2800" dirty="0">
                <a:latin typeface="Times New Roman" panose="02020603050405020304" pitchFamily="18" charset="0"/>
                <a:cs typeface="Times New Roman" panose="02020603050405020304" pitchFamily="18" charset="0"/>
              </a:rPr>
              <a:t>MATLAB-based algorithms for enhanced </a:t>
            </a:r>
            <a:r>
              <a:rPr lang="en-IN" sz="2800" dirty="0" err="1">
                <a:latin typeface="Times New Roman" panose="02020603050405020304" pitchFamily="18" charset="0"/>
                <a:cs typeface="Times New Roman" panose="02020603050405020304" pitchFamily="18" charset="0"/>
              </a:rPr>
              <a:t>tumor</a:t>
            </a:r>
            <a:r>
              <a:rPr lang="en-IN" sz="2800" dirty="0">
                <a:latin typeface="Times New Roman" panose="02020603050405020304" pitchFamily="18" charset="0"/>
                <a:cs typeface="Times New Roman" panose="02020603050405020304" pitchFamily="18" charset="0"/>
              </a:rPr>
              <a:t> detection and analysis.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3B97E69-FE64-71D0-FCC6-3E457B19C7F7}"/>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EE10779F-6893-C8C7-C99D-15AB3E415ACE}"/>
              </a:ext>
            </a:extLst>
          </p:cNvPr>
          <p:cNvSpPr>
            <a:spLocks noGrp="1"/>
          </p:cNvSpPr>
          <p:nvPr>
            <p:ph type="sldNum" sz="quarter" idx="12"/>
          </p:nvPr>
        </p:nvSpPr>
        <p:spPr/>
        <p:txBody>
          <a:bodyPr/>
          <a:lstStyle/>
          <a:p>
            <a:fld id="{14664CE2-A199-492D-95BF-8BD1FF457610}" type="slidenum">
              <a:rPr lang="en-US" smtClean="0"/>
              <a:t>10</a:t>
            </a:fld>
            <a:endParaRPr lang="en-US"/>
          </a:p>
        </p:txBody>
      </p:sp>
      <p:pic>
        <p:nvPicPr>
          <p:cNvPr id="6" name="Picture 5">
            <a:extLst>
              <a:ext uri="{FF2B5EF4-FFF2-40B4-BE49-F238E27FC236}">
                <a16:creationId xmlns:a16="http://schemas.microsoft.com/office/drawing/2014/main" id="{C3C8AF52-9C1C-76CC-5CC9-9C50E9C3F199}"/>
              </a:ext>
            </a:extLst>
          </p:cNvPr>
          <p:cNvPicPr>
            <a:picLocks noChangeAspect="1"/>
          </p:cNvPicPr>
          <p:nvPr/>
        </p:nvPicPr>
        <p:blipFill>
          <a:blip r:embed="rId2"/>
          <a:stretch>
            <a:fillRect/>
          </a:stretch>
        </p:blipFill>
        <p:spPr>
          <a:xfrm>
            <a:off x="1004454" y="-38894"/>
            <a:ext cx="9753600" cy="1066800"/>
          </a:xfrm>
          <a:prstGeom prst="rect">
            <a:avLst/>
          </a:prstGeom>
        </p:spPr>
      </p:pic>
      <p:sp>
        <p:nvSpPr>
          <p:cNvPr id="8" name="Title 7">
            <a:extLst>
              <a:ext uri="{FF2B5EF4-FFF2-40B4-BE49-F238E27FC236}">
                <a16:creationId xmlns:a16="http://schemas.microsoft.com/office/drawing/2014/main" id="{DF138AF7-7FD8-C67D-2EE6-2596FF2EFF5A}"/>
              </a:ext>
            </a:extLst>
          </p:cNvPr>
          <p:cNvSpPr>
            <a:spLocks noGrp="1"/>
          </p:cNvSpPr>
          <p:nvPr>
            <p:ph type="title"/>
          </p:nvPr>
        </p:nvSpPr>
        <p:spPr>
          <a:xfrm>
            <a:off x="2384367" y="1207293"/>
            <a:ext cx="9602585" cy="483395"/>
          </a:xfrm>
        </p:spPr>
        <p:txBody>
          <a:bodyPr>
            <a:normAutofit fontScale="90000"/>
          </a:bodyPr>
          <a:lstStyle/>
          <a:p>
            <a:r>
              <a:rPr lang="en-US" u="sng" dirty="0">
                <a:cs typeface="Times New Roman" panose="02020603050405020304" pitchFamily="18" charset="0"/>
              </a:rPr>
              <a:t>Multiple solution identified</a:t>
            </a:r>
            <a:endParaRPr lang="en-IN" u="sng" dirty="0"/>
          </a:p>
        </p:txBody>
      </p:sp>
    </p:spTree>
    <p:extLst>
      <p:ext uri="{BB962C8B-B14F-4D97-AF65-F5344CB8AC3E}">
        <p14:creationId xmlns:p14="http://schemas.microsoft.com/office/powerpoint/2010/main" val="148779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8F3D9-AA27-E9B1-CD21-343F90CED50E}"/>
              </a:ext>
            </a:extLst>
          </p:cNvPr>
          <p:cNvSpPr>
            <a:spLocks noGrp="1"/>
          </p:cNvSpPr>
          <p:nvPr>
            <p:ph idx="1"/>
          </p:nvPr>
        </p:nvSpPr>
        <p:spPr>
          <a:xfrm>
            <a:off x="838200" y="1813479"/>
            <a:ext cx="10515600" cy="4351338"/>
          </a:xfrm>
        </p:spPr>
        <p:txBody>
          <a:bodyPr>
            <a:normAutofit lnSpcReduction="10000"/>
          </a:bodyPr>
          <a:lstStyle/>
          <a:p>
            <a:r>
              <a:rPr lang="en-US" sz="1800" dirty="0">
                <a:latin typeface="Times New Roman" panose="02020603050405020304" pitchFamily="18" charset="0"/>
                <a:cs typeface="Times New Roman" panose="02020603050405020304" pitchFamily="18" charset="0"/>
              </a:rPr>
              <a:t>Machine Learning (ML) and Deep Learning (DL) Approaches</a:t>
            </a:r>
            <a:r>
              <a:rPr lang="en-IN" sz="1800" dirty="0">
                <a:latin typeface="Times New Roman" panose="02020603050405020304" pitchFamily="18" charset="0"/>
                <a:cs typeface="Times New Roman" panose="02020603050405020304" pitchFamily="18" charset="0"/>
              </a:rPr>
              <a:t>.</a:t>
            </a:r>
          </a:p>
          <a:p>
            <a:r>
              <a:rPr lang="en-IN" sz="1800" dirty="0">
                <a:latin typeface="Times New Roman" panose="02020603050405020304" pitchFamily="18" charset="0"/>
                <a:cs typeface="Times New Roman" panose="02020603050405020304" pitchFamily="18" charset="0"/>
              </a:rPr>
              <a:t>MATLAB-based algorithms for enhanced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detection and analysis.</a:t>
            </a:r>
          </a:p>
          <a:p>
            <a:r>
              <a:rPr lang="en-IN" sz="2000" dirty="0">
                <a:latin typeface="Times New Roman" panose="02020603050405020304" pitchFamily="18" charset="0"/>
                <a:cs typeface="Times New Roman" panose="02020603050405020304" pitchFamily="18" charset="0"/>
              </a:rPr>
              <a:t>Preprocessing: </a:t>
            </a:r>
            <a:r>
              <a:rPr lang="en-US" sz="1800" dirty="0">
                <a:latin typeface="Times New Roman" panose="02020603050405020304" pitchFamily="18" charset="0"/>
                <a:cs typeface="Times New Roman" panose="02020603050405020304" pitchFamily="18" charset="0"/>
              </a:rPr>
              <a:t>The input </a:t>
            </a:r>
            <a:r>
              <a:rPr lang="en-US" sz="1800" b="1" dirty="0">
                <a:latin typeface="Times New Roman" panose="02020603050405020304" pitchFamily="18" charset="0"/>
                <a:cs typeface="Times New Roman" panose="02020603050405020304" pitchFamily="18" charset="0"/>
              </a:rPr>
              <a:t>MRI image</a:t>
            </a:r>
            <a:r>
              <a:rPr lang="en-US" sz="1800" dirty="0">
                <a:latin typeface="Times New Roman" panose="02020603050405020304" pitchFamily="18" charset="0"/>
                <a:cs typeface="Times New Roman" panose="02020603050405020304" pitchFamily="18" charset="0"/>
              </a:rPr>
              <a:t> is converted to </a:t>
            </a:r>
            <a:r>
              <a:rPr lang="en-US" sz="1800" b="1" dirty="0">
                <a:latin typeface="Times New Roman" panose="02020603050405020304" pitchFamily="18" charset="0"/>
                <a:cs typeface="Times New Roman" panose="02020603050405020304" pitchFamily="18" charset="0"/>
              </a:rPr>
              <a:t>grayscale, Median filtering</a:t>
            </a:r>
            <a:r>
              <a:rPr lang="en-US" sz="1800" dirty="0">
                <a:latin typeface="Times New Roman" panose="02020603050405020304" pitchFamily="18" charset="0"/>
                <a:cs typeface="Times New Roman" panose="02020603050405020304" pitchFamily="18" charset="0"/>
              </a:rPr>
              <a:t> is applied to enhance the image and remove noise</a:t>
            </a:r>
            <a:endParaRPr lang="en-US" sz="18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Segmentation: </a:t>
            </a:r>
            <a:r>
              <a:rPr lang="en-US" sz="1800" b="1" dirty="0">
                <a:latin typeface="Times New Roman" panose="02020603050405020304" pitchFamily="18" charset="0"/>
                <a:cs typeface="Times New Roman" panose="02020603050405020304" pitchFamily="18" charset="0"/>
              </a:rPr>
              <a:t>K-means clustering</a:t>
            </a:r>
            <a:r>
              <a:rPr lang="en-US" sz="1800" dirty="0">
                <a:latin typeface="Times New Roman" panose="02020603050405020304" pitchFamily="18" charset="0"/>
                <a:cs typeface="Times New Roman" panose="02020603050405020304" pitchFamily="18" charset="0"/>
              </a:rPr>
              <a:t> is used to segment the MRI image into different regions.</a:t>
            </a:r>
          </a:p>
          <a:p>
            <a:r>
              <a:rPr lang="en-IN" sz="2000" dirty="0">
                <a:latin typeface="Times New Roman" panose="02020603050405020304" pitchFamily="18" charset="0"/>
                <a:cs typeface="Times New Roman" panose="02020603050405020304" pitchFamily="18" charset="0"/>
              </a:rPr>
              <a:t>Feature Extraction</a:t>
            </a:r>
            <a:r>
              <a:rPr lang="en-IN"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Gray Level Co-occurrence Matrix (GLCM)</a:t>
            </a:r>
            <a:r>
              <a:rPr lang="en-US" sz="1800" dirty="0">
                <a:latin typeface="Times New Roman" panose="02020603050405020304" pitchFamily="18" charset="0"/>
                <a:cs typeface="Times New Roman" panose="02020603050405020304" pitchFamily="18" charset="0"/>
              </a:rPr>
              <a:t> is used to extract texture features from the grayscale MRI image</a:t>
            </a:r>
          </a:p>
          <a:p>
            <a:r>
              <a:rPr lang="en-IN" sz="2000" dirty="0">
                <a:latin typeface="Times New Roman" panose="02020603050405020304" pitchFamily="18" charset="0"/>
                <a:cs typeface="Times New Roman" panose="02020603050405020304" pitchFamily="18" charset="0"/>
              </a:rPr>
              <a:t>Classification: </a:t>
            </a:r>
            <a:r>
              <a:rPr lang="en-US" sz="1800" dirty="0">
                <a:latin typeface="Times New Roman" panose="02020603050405020304" pitchFamily="18" charset="0"/>
                <a:cs typeface="Times New Roman" panose="02020603050405020304" pitchFamily="18" charset="0"/>
              </a:rPr>
              <a:t>The extracted features are input into an </a:t>
            </a:r>
            <a:r>
              <a:rPr lang="en-US" sz="1800" b="1" dirty="0">
                <a:latin typeface="Times New Roman" panose="02020603050405020304" pitchFamily="18" charset="0"/>
                <a:cs typeface="Times New Roman" panose="02020603050405020304" pitchFamily="18" charset="0"/>
              </a:rPr>
              <a:t>Artificial Neural Network (ANN)</a:t>
            </a:r>
            <a:r>
              <a:rPr lang="en-US" sz="1800" dirty="0">
                <a:latin typeface="Times New Roman" panose="02020603050405020304" pitchFamily="18" charset="0"/>
                <a:cs typeface="Times New Roman" panose="02020603050405020304" pitchFamily="18" charset="0"/>
              </a:rPr>
              <a:t>, which classifies the MRI image as </a:t>
            </a:r>
            <a:r>
              <a:rPr lang="en-US" sz="1800" b="1" dirty="0">
                <a:latin typeface="Times New Roman" panose="02020603050405020304" pitchFamily="18" charset="0"/>
                <a:cs typeface="Times New Roman" panose="02020603050405020304" pitchFamily="18" charset="0"/>
              </a:rPr>
              <a:t>normal or tumorous.</a:t>
            </a:r>
          </a:p>
          <a:p>
            <a:r>
              <a:rPr lang="en-US" sz="2000" dirty="0">
                <a:latin typeface="Times New Roman" panose="02020603050405020304" pitchFamily="18" charset="0"/>
                <a:cs typeface="Times New Roman" panose="02020603050405020304" pitchFamily="18" charset="0"/>
              </a:rPr>
              <a:t>Filtering:</a:t>
            </a:r>
            <a:r>
              <a:rPr lang="en-US" sz="12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Various filters (median filter) are used to enhance the image and reduce noise.</a:t>
            </a:r>
          </a:p>
          <a:p>
            <a:r>
              <a:rPr lang="en-US" sz="2000" dirty="0">
                <a:latin typeface="Times New Roman" panose="02020603050405020304" pitchFamily="18" charset="0"/>
                <a:cs typeface="Times New Roman" panose="02020603050405020304" pitchFamily="18" charset="0"/>
              </a:rPr>
              <a:t>Thresholding : </a:t>
            </a:r>
            <a:r>
              <a:rPr lang="en-US" sz="1800" dirty="0">
                <a:latin typeface="Times New Roman" panose="02020603050405020304" pitchFamily="18" charset="0"/>
                <a:cs typeface="Times New Roman" panose="02020603050405020304" pitchFamily="18" charset="0"/>
              </a:rPr>
              <a:t>The grayscale image is converted into a binary image based on a threshold value.</a:t>
            </a:r>
            <a:endParaRPr lang="en-US" sz="18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Morphological Operations: </a:t>
            </a:r>
            <a:r>
              <a:rPr lang="en-US" sz="1800" dirty="0">
                <a:latin typeface="Times New Roman" panose="02020603050405020304" pitchFamily="18" charset="0"/>
                <a:cs typeface="Times New Roman" panose="02020603050405020304" pitchFamily="18" charset="0"/>
              </a:rPr>
              <a:t>Morphological operations such as </a:t>
            </a:r>
            <a:r>
              <a:rPr lang="en-US" sz="1800" b="1" dirty="0">
                <a:latin typeface="Times New Roman" panose="02020603050405020304" pitchFamily="18" charset="0"/>
                <a:cs typeface="Times New Roman" panose="02020603050405020304" pitchFamily="18" charset="0"/>
              </a:rPr>
              <a:t>erosion</a:t>
            </a:r>
            <a:r>
              <a:rPr lang="en-US" sz="1800" dirty="0">
                <a:latin typeface="Times New Roman" panose="02020603050405020304" pitchFamily="18" charset="0"/>
                <a:cs typeface="Times New Roman" panose="02020603050405020304" pitchFamily="18" charset="0"/>
              </a:rPr>
              <a:t> are applied to enhance tumor regions and separate them from the rest of the image</a:t>
            </a:r>
          </a:p>
          <a:p>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id="{8AFB8E39-235F-32E5-4900-06E9F569404E}"/>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CBAD1ACD-F685-5889-D812-B39E9967F88D}"/>
              </a:ext>
            </a:extLst>
          </p:cNvPr>
          <p:cNvSpPr>
            <a:spLocks noGrp="1"/>
          </p:cNvSpPr>
          <p:nvPr>
            <p:ph type="sldNum" sz="quarter" idx="12"/>
          </p:nvPr>
        </p:nvSpPr>
        <p:spPr/>
        <p:txBody>
          <a:bodyPr/>
          <a:lstStyle/>
          <a:p>
            <a:fld id="{14664CE2-A199-492D-95BF-8BD1FF457610}" type="slidenum">
              <a:rPr lang="en-US" smtClean="0"/>
              <a:t>11</a:t>
            </a:fld>
            <a:endParaRPr lang="en-US"/>
          </a:p>
        </p:txBody>
      </p:sp>
      <p:pic>
        <p:nvPicPr>
          <p:cNvPr id="6" name="Picture 5">
            <a:extLst>
              <a:ext uri="{FF2B5EF4-FFF2-40B4-BE49-F238E27FC236}">
                <a16:creationId xmlns:a16="http://schemas.microsoft.com/office/drawing/2014/main" id="{80BADDC1-BAA9-B0BB-DA6C-F0A82E53AE1B}"/>
              </a:ext>
            </a:extLst>
          </p:cNvPr>
          <p:cNvPicPr>
            <a:picLocks noChangeAspect="1"/>
          </p:cNvPicPr>
          <p:nvPr/>
        </p:nvPicPr>
        <p:blipFill>
          <a:blip r:embed="rId2"/>
          <a:stretch>
            <a:fillRect/>
          </a:stretch>
        </p:blipFill>
        <p:spPr>
          <a:xfrm>
            <a:off x="1014153" y="174535"/>
            <a:ext cx="9335193" cy="739526"/>
          </a:xfrm>
          <a:prstGeom prst="rect">
            <a:avLst/>
          </a:prstGeom>
        </p:spPr>
      </p:pic>
      <p:sp>
        <p:nvSpPr>
          <p:cNvPr id="11" name="TextBox 10">
            <a:extLst>
              <a:ext uri="{FF2B5EF4-FFF2-40B4-BE49-F238E27FC236}">
                <a16:creationId xmlns:a16="http://schemas.microsoft.com/office/drawing/2014/main" id="{0BE51240-1595-76E3-23A7-B17C0CF16BE6}"/>
              </a:ext>
            </a:extLst>
          </p:cNvPr>
          <p:cNvSpPr txBox="1"/>
          <p:nvPr/>
        </p:nvSpPr>
        <p:spPr>
          <a:xfrm>
            <a:off x="3923606" y="914061"/>
            <a:ext cx="4828309" cy="707886"/>
          </a:xfrm>
          <a:prstGeom prst="rect">
            <a:avLst/>
          </a:prstGeom>
          <a:noFill/>
        </p:spPr>
        <p:txBody>
          <a:bodyPr wrap="square" rtlCol="0">
            <a:spAutoFit/>
          </a:bodyPr>
          <a:lstStyle/>
          <a:p>
            <a:r>
              <a:rPr lang="en-US" sz="4000" u="sng" dirty="0">
                <a:latin typeface="+mj-lt"/>
                <a:cs typeface="Times New Roman" panose="02020603050405020304" pitchFamily="18" charset="0"/>
              </a:rPr>
              <a:t>Selected solution</a:t>
            </a:r>
            <a:endParaRPr lang="en-IN" sz="4000" u="sng" dirty="0">
              <a:latin typeface="+mj-lt"/>
            </a:endParaRPr>
          </a:p>
        </p:txBody>
      </p:sp>
    </p:spTree>
    <p:extLst>
      <p:ext uri="{BB962C8B-B14F-4D97-AF65-F5344CB8AC3E}">
        <p14:creationId xmlns:p14="http://schemas.microsoft.com/office/powerpoint/2010/main" val="1598312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68605" y="2920423"/>
            <a:ext cx="10515600" cy="1900555"/>
          </a:xfrm>
        </p:spPr>
        <p:txBody>
          <a:bodyPr/>
          <a:lstStyle/>
          <a:p>
            <a:pPr marL="0" indent="0">
              <a:buNone/>
            </a:pPr>
            <a:r>
              <a:rPr lang="en-US" dirty="0"/>
              <a:t>                                                </a:t>
            </a:r>
          </a:p>
          <a:p>
            <a:pPr marL="0" indent="0">
              <a:buNone/>
            </a:pPr>
            <a:r>
              <a:rPr lang="en-US" dirty="0"/>
              <a:t>                                               </a:t>
            </a:r>
            <a:r>
              <a:rPr lang="en-US" sz="6000" dirty="0"/>
              <a:t>THANK YOU</a:t>
            </a:r>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12</a:t>
            </a:fld>
            <a:endParaRPr lang="en-US"/>
          </a:p>
        </p:txBody>
      </p:sp>
      <p:pic>
        <p:nvPicPr>
          <p:cNvPr id="6" name="Picture 5"/>
          <p:cNvPicPr>
            <a:picLocks noChangeAspect="1"/>
          </p:cNvPicPr>
          <p:nvPr/>
        </p:nvPicPr>
        <p:blipFill>
          <a:blip r:embed="rId2"/>
          <a:stretch>
            <a:fillRect/>
          </a:stretch>
        </p:blipFill>
        <p:spPr>
          <a:xfrm>
            <a:off x="1030605" y="287337"/>
            <a:ext cx="9753600" cy="10668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8*221"/>
  <p:tag name="TABLE_ENDDRAG_RECT" val="66*143*828*22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1254</Words>
  <Application>Microsoft Office PowerPoint</Application>
  <PresentationFormat>Widescreen</PresentationFormat>
  <Paragraphs>134</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Need Statement</vt:lpstr>
      <vt:lpstr>Problem Statement</vt:lpstr>
      <vt:lpstr>Introduction</vt:lpstr>
      <vt:lpstr>Literature Review </vt:lpstr>
      <vt:lpstr>PowerPoint Presentation</vt:lpstr>
      <vt:lpstr>PowerPoint Presentation</vt:lpstr>
      <vt:lpstr>PowerPoint Presentation</vt:lpstr>
      <vt:lpstr>Multiple solution identified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EC</dc:creator>
  <cp:lastModifiedBy>Somnath Mirje</cp:lastModifiedBy>
  <cp:revision>24</cp:revision>
  <dcterms:created xsi:type="dcterms:W3CDTF">2023-10-31T09:29:00Z</dcterms:created>
  <dcterms:modified xsi:type="dcterms:W3CDTF">2025-03-18T05:17:12Z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AFB693B37CE84D0FB11C7EC48876F2E1_12</vt:lpwstr>
  </property>
  <property fmtid="{D5CDD505-2E9C-101B-9397-08002B2CF9AE}" pid="3" name="KSOProductBuildVer">
    <vt:lpwstr>1033-12.2.0.18607</vt:lpwstr>
  </property>
</Properties>
</file>